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A2B406-B3A0-463F-944D-07D615EE5F6A}">
  <a:tblStyle styleId="{A2A2B406-B3A0-463F-944D-07D615EE5F6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a9b640751d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a9b640751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4891eafbc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64891eafbc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64891eafbc_5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64891eafbc_5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64891eafbc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64891eafbc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6488a67fd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6488a67fd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6488a67fd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6488a67fd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64891eafbc_9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64891eafbc_9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4891eafbc_9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64891eafbc_9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a9b640751d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a9b640751d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4891eafbc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64891eafbc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64891eafb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64891eafb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64891eafbc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64891eafbc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4891eafbc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4891eafbc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64891eafbc_9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64891eafbc_9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64891eafbc_9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64891eafbc_9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64891eafbc_9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64891eafbc_9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64891eafbc_9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64891eafbc_9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a9b640751d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a9b640751d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64891eafbc_1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64891eafbc_1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4891eafbc_1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64891eafbc_1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64891eafbc_1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64891eafbc_1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64891eafbc_1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64891eafbc_1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64891eafbc_1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64891eafbc_1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a9b640751d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a9b640751d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a9b640751d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a9b640751d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64891eafbc_1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64891eafbc_1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64891eafbc_11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64891eafbc_11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64891eafbc_1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64891eafbc_11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a9d33c592a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a9d33c592a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64891eafbc_1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64891eafbc_1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64891eafbc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64891eafbc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64891eafbc_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64891eafbc_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drive.google.com/file/d/1Gu64xXPlf6yGEOP-V_dId0dtfINsck5T/view" TargetMode="External"/><Relationship Id="rId4" Type="http://schemas.openxmlformats.org/officeDocument/2006/relationships/image" Target="../media/image15.jpg"/><Relationship Id="rId5"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hyperlink" Target="http://drive.google.com/file/d/12qWgA041HkyV-dCwl49yYGGDkhJhIYQr/view" TargetMode="External"/><Relationship Id="rId5" Type="http://schemas.openxmlformats.org/officeDocument/2006/relationships/image" Target="../media/image1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drive.google.com/file/d/1pOihZadtfyUbojTa6NhgZuFvgDUuHna6/view" TargetMode="External"/><Relationship Id="rId4" Type="http://schemas.openxmlformats.org/officeDocument/2006/relationships/image" Target="../media/image18.jpg"/><Relationship Id="rId5"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drive.google.com/file/d/1Gu64xXPlf6yGEOP-V_dId0dtfINsck5T/view" TargetMode="External"/><Relationship Id="rId4" Type="http://schemas.openxmlformats.org/officeDocument/2006/relationships/image" Target="../media/image15.jpg"/><Relationship Id="rId5" Type="http://schemas.openxmlformats.org/officeDocument/2006/relationships/hyperlink" Target="http://drive.google.com/file/d/1oT33fHogIxo4y59iCAYZXMru-5LgAi57/view" TargetMode="External"/><Relationship Id="rId6" Type="http://schemas.openxmlformats.org/officeDocument/2006/relationships/image" Target="../media/image2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010100"/>
            <a:ext cx="8520600" cy="989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CN"/>
              <a:t>Kinematic Motion Diffusion</a:t>
            </a:r>
            <a:endParaRPr/>
          </a:p>
        </p:txBody>
      </p:sp>
      <p:sp>
        <p:nvSpPr>
          <p:cNvPr id="55" name="Google Shape;55;p13"/>
          <p:cNvSpPr txBox="1"/>
          <p:nvPr>
            <p:ph idx="1" type="subTitle"/>
          </p:nvPr>
        </p:nvSpPr>
        <p:spPr>
          <a:xfrm>
            <a:off x="1153350" y="2236350"/>
            <a:ext cx="6837300" cy="792600"/>
          </a:xfrm>
          <a:prstGeom prst="rect">
            <a:avLst/>
          </a:prstGeom>
        </p:spPr>
        <p:txBody>
          <a:bodyPr anchorCtr="0" anchor="t" bIns="91425" lIns="91425" spcFirstLastPara="1" rIns="91425" wrap="square" tIns="91425">
            <a:normAutofit fontScale="47500" lnSpcReduction="20000"/>
          </a:bodyPr>
          <a:lstStyle/>
          <a:p>
            <a:pPr indent="0" lvl="0" marL="0" rtl="0" algn="ctr">
              <a:spcBef>
                <a:spcPts val="0"/>
              </a:spcBef>
              <a:spcAft>
                <a:spcPts val="0"/>
              </a:spcAft>
              <a:buClr>
                <a:schemeClr val="dk1"/>
              </a:buClr>
              <a:buSzPts val="523"/>
              <a:buFont typeface="Arial"/>
              <a:buNone/>
            </a:pPr>
            <a:r>
              <a:rPr lang="zh-CN" sz="5200">
                <a:solidFill>
                  <a:schemeClr val="dk1"/>
                </a:solidFill>
              </a:rPr>
              <a:t>Towards Semantic-adaptive Motion Synthesis via Kinematic Guidance</a:t>
            </a:r>
            <a:endParaRPr/>
          </a:p>
        </p:txBody>
      </p:sp>
      <p:sp>
        <p:nvSpPr>
          <p:cNvPr id="56" name="Google Shape;56;p13"/>
          <p:cNvSpPr txBox="1"/>
          <p:nvPr/>
        </p:nvSpPr>
        <p:spPr>
          <a:xfrm>
            <a:off x="1763850" y="3522450"/>
            <a:ext cx="5616300" cy="7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2"/>
                </a:solidFill>
              </a:rPr>
              <a:t>Leizhi Li, Jincheng Yang, Yichao Zhong, Junxian Guo</a:t>
            </a:r>
            <a:endParaRPr sz="1800">
              <a:solidFill>
                <a:schemeClr val="dk2"/>
              </a:solidFill>
            </a:endParaRPr>
          </a:p>
          <a:p>
            <a:pPr indent="0" lvl="0" marL="0" rtl="0" algn="ctr">
              <a:spcBef>
                <a:spcPts val="0"/>
              </a:spcBef>
              <a:spcAft>
                <a:spcPts val="0"/>
              </a:spcAft>
              <a:buNone/>
            </a:pPr>
            <a:r>
              <a:rPr lang="zh-CN" sz="1800">
                <a:solidFill>
                  <a:schemeClr val="dk2"/>
                </a:solidFill>
              </a:rPr>
              <a:t>12.25</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Background</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Diffusion Models</a:t>
            </a:r>
            <a:endParaRPr/>
          </a:p>
          <a:p>
            <a:pPr indent="-342900" lvl="0" marL="457200" rtl="0" algn="l">
              <a:spcBef>
                <a:spcPts val="0"/>
              </a:spcBef>
              <a:spcAft>
                <a:spcPts val="0"/>
              </a:spcAft>
              <a:buSzPts val="1800"/>
              <a:buChar char="●"/>
            </a:pPr>
            <a:r>
              <a:rPr lang="zh-CN"/>
              <a:t>Classifier Guidance</a:t>
            </a:r>
            <a:endParaRPr/>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Background: Diffusion Models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DDPM</a:t>
            </a:r>
            <a:endParaRPr/>
          </a:p>
          <a:p>
            <a:pPr indent="-317500" lvl="1" marL="914400" rtl="0" algn="l">
              <a:spcBef>
                <a:spcPts val="0"/>
              </a:spcBef>
              <a:spcAft>
                <a:spcPts val="0"/>
              </a:spcAft>
              <a:buSzPts val="1400"/>
              <a:buChar char="○"/>
            </a:pPr>
            <a:r>
              <a:rPr lang="zh-CN"/>
              <a:t>The most basic diffusion model</a:t>
            </a:r>
            <a:endParaRPr/>
          </a:p>
          <a:p>
            <a:pPr indent="-317500" lvl="1" marL="914400" rtl="0" algn="l">
              <a:spcBef>
                <a:spcPts val="0"/>
              </a:spcBef>
              <a:spcAft>
                <a:spcPts val="0"/>
              </a:spcAft>
              <a:buSzPts val="1400"/>
              <a:buChar char="○"/>
            </a:pPr>
            <a:r>
              <a:rPr lang="zh-CN"/>
              <a:t>x0 to xT: diffusion process q</a:t>
            </a:r>
            <a:endParaRPr/>
          </a:p>
          <a:p>
            <a:pPr indent="-317500" lvl="1" marL="914400" rtl="0" algn="l">
              <a:spcBef>
                <a:spcPts val="0"/>
              </a:spcBef>
              <a:spcAft>
                <a:spcPts val="0"/>
              </a:spcAft>
              <a:buSzPts val="1400"/>
              <a:buChar char="○"/>
            </a:pPr>
            <a:r>
              <a:rPr lang="zh-CN"/>
              <a:t>xT to x0: denoising process p</a:t>
            </a:r>
            <a:endParaRPr/>
          </a:p>
          <a:p>
            <a:pPr indent="0" lvl="0" marL="914400" rtl="0" algn="l">
              <a:spcBef>
                <a:spcPts val="1200"/>
              </a:spcBef>
              <a:spcAft>
                <a:spcPts val="0"/>
              </a:spcAft>
              <a:buNone/>
            </a:pPr>
            <a:r>
              <a:t/>
            </a:r>
            <a:endParaRPr sz="1400"/>
          </a:p>
          <a:p>
            <a:pPr indent="0" lvl="0" marL="914400" rtl="0" algn="l">
              <a:spcBef>
                <a:spcPts val="1200"/>
              </a:spcBef>
              <a:spcAft>
                <a:spcPts val="0"/>
              </a:spcAft>
              <a:buNone/>
            </a:pPr>
            <a:r>
              <a:t/>
            </a:r>
            <a:endParaRPr sz="1400"/>
          </a:p>
          <a:p>
            <a:pPr indent="0" lvl="0" marL="914400" rtl="0" algn="l">
              <a:spcBef>
                <a:spcPts val="1200"/>
              </a:spcBef>
              <a:spcAft>
                <a:spcPts val="0"/>
              </a:spcAft>
              <a:buNone/>
            </a:pPr>
            <a:r>
              <a:t/>
            </a:r>
            <a:endParaRPr/>
          </a:p>
          <a:p>
            <a:pPr indent="0" lvl="0" marL="914400" rtl="0" algn="l">
              <a:spcBef>
                <a:spcPts val="1200"/>
              </a:spcBef>
              <a:spcAft>
                <a:spcPts val="1200"/>
              </a:spcAft>
              <a:buNone/>
            </a:pPr>
            <a:r>
              <a:t/>
            </a:r>
            <a:endParaRPr/>
          </a:p>
        </p:txBody>
      </p:sp>
      <p:pic>
        <p:nvPicPr>
          <p:cNvPr id="69" name="Google Shape;69;p15"/>
          <p:cNvPicPr preferRelativeResize="0"/>
          <p:nvPr/>
        </p:nvPicPr>
        <p:blipFill>
          <a:blip r:embed="rId3">
            <a:alphaModFix/>
          </a:blip>
          <a:stretch>
            <a:fillRect/>
          </a:stretch>
        </p:blipFill>
        <p:spPr>
          <a:xfrm>
            <a:off x="1835075" y="2279450"/>
            <a:ext cx="5832976" cy="25155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Background: Diffusion Models</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DDPM</a:t>
            </a:r>
            <a:endParaRPr/>
          </a:p>
          <a:p>
            <a:pPr indent="-317500" lvl="1" marL="914400" rtl="0" algn="l">
              <a:spcBef>
                <a:spcPts val="0"/>
              </a:spcBef>
              <a:spcAft>
                <a:spcPts val="0"/>
              </a:spcAft>
              <a:buSzPts val="1400"/>
              <a:buChar char="○"/>
            </a:pPr>
            <a:r>
              <a:rPr lang="zh-CN"/>
              <a:t>The most basic diffusion model</a:t>
            </a:r>
            <a:endParaRPr/>
          </a:p>
          <a:p>
            <a:pPr indent="-317500" lvl="1" marL="914400" rtl="0" algn="l">
              <a:spcBef>
                <a:spcPts val="0"/>
              </a:spcBef>
              <a:spcAft>
                <a:spcPts val="0"/>
              </a:spcAft>
              <a:buSzPts val="1400"/>
              <a:buChar char="○"/>
            </a:pPr>
            <a:r>
              <a:rPr lang="zh-CN"/>
              <a:t>x0 to xT: diffusion process q</a:t>
            </a:r>
            <a:endParaRPr/>
          </a:p>
          <a:p>
            <a:pPr indent="-317500" lvl="1" marL="914400" rtl="0" algn="l">
              <a:spcBef>
                <a:spcPts val="0"/>
              </a:spcBef>
              <a:spcAft>
                <a:spcPts val="0"/>
              </a:spcAft>
              <a:buSzPts val="1400"/>
              <a:buChar char="○"/>
            </a:pPr>
            <a:r>
              <a:rPr lang="zh-CN"/>
              <a:t>xT to x0: denoising process p</a:t>
            </a:r>
            <a:endParaRPr/>
          </a:p>
          <a:p>
            <a:pPr indent="-317500" lvl="1" marL="914400" rtl="0" algn="l">
              <a:spcBef>
                <a:spcPts val="0"/>
              </a:spcBef>
              <a:spcAft>
                <a:spcPts val="0"/>
              </a:spcAft>
              <a:buSzPts val="1400"/>
              <a:buChar char="○"/>
            </a:pPr>
            <a:r>
              <a:rPr lang="zh-CN"/>
              <a:t>q:</a:t>
            </a:r>
            <a:endParaRPr/>
          </a:p>
          <a:p>
            <a:pPr indent="-317500" lvl="1" marL="914400" rtl="0" algn="l">
              <a:spcBef>
                <a:spcPts val="0"/>
              </a:spcBef>
              <a:spcAft>
                <a:spcPts val="0"/>
              </a:spcAft>
              <a:buSzPts val="1400"/>
              <a:buChar char="○"/>
            </a:pPr>
            <a:r>
              <a:rPr lang="zh-CN"/>
              <a:t>p_theta:</a:t>
            </a:r>
            <a:endParaRPr/>
          </a:p>
          <a:p>
            <a:pPr indent="0" lvl="0" marL="914400" rtl="0" algn="l">
              <a:spcBef>
                <a:spcPts val="1200"/>
              </a:spcBef>
              <a:spcAft>
                <a:spcPts val="0"/>
              </a:spcAft>
              <a:buNone/>
            </a:pPr>
            <a:r>
              <a:t/>
            </a:r>
            <a:endParaRPr sz="1400"/>
          </a:p>
          <a:p>
            <a:pPr indent="0" lvl="0" marL="0" rtl="0" algn="l">
              <a:spcBef>
                <a:spcPts val="1200"/>
              </a:spcBef>
              <a:spcAft>
                <a:spcPts val="0"/>
              </a:spcAft>
              <a:buNone/>
            </a:pPr>
            <a:r>
              <a:t/>
            </a:r>
            <a:endParaRPr/>
          </a:p>
          <a:p>
            <a:pPr indent="-317500" lvl="1" marL="914400" rtl="0" algn="l">
              <a:spcBef>
                <a:spcPts val="1200"/>
              </a:spcBef>
              <a:spcAft>
                <a:spcPts val="0"/>
              </a:spcAft>
              <a:buSzPts val="1400"/>
              <a:buChar char="○"/>
            </a:pPr>
            <a:r>
              <a:rPr lang="zh-CN"/>
              <a:t>Learn a noise network to estimate noise at step t </a:t>
            </a:r>
            <a:r>
              <a:rPr lang="zh-CN" sz="1400"/>
              <a:t>with the loss:</a:t>
            </a:r>
            <a:endParaRPr/>
          </a:p>
        </p:txBody>
      </p:sp>
      <p:pic>
        <p:nvPicPr>
          <p:cNvPr id="76" name="Google Shape;76;p16"/>
          <p:cNvPicPr preferRelativeResize="0"/>
          <p:nvPr/>
        </p:nvPicPr>
        <p:blipFill rotWithShape="1">
          <a:blip r:embed="rId3">
            <a:alphaModFix/>
          </a:blip>
          <a:srcRect b="0" l="0" r="0" t="60816"/>
          <a:stretch/>
        </p:blipFill>
        <p:spPr>
          <a:xfrm>
            <a:off x="4123700" y="1510025"/>
            <a:ext cx="4560951" cy="770725"/>
          </a:xfrm>
          <a:prstGeom prst="rect">
            <a:avLst/>
          </a:prstGeom>
          <a:noFill/>
          <a:ln>
            <a:noFill/>
          </a:ln>
        </p:spPr>
      </p:pic>
      <p:pic>
        <p:nvPicPr>
          <p:cNvPr id="77" name="Google Shape;77;p16"/>
          <p:cNvPicPr preferRelativeResize="0"/>
          <p:nvPr/>
        </p:nvPicPr>
        <p:blipFill rotWithShape="1">
          <a:blip r:embed="rId4">
            <a:alphaModFix/>
          </a:blip>
          <a:srcRect b="0" l="5069" r="0" t="0"/>
          <a:stretch/>
        </p:blipFill>
        <p:spPr>
          <a:xfrm>
            <a:off x="1560050" y="4082350"/>
            <a:ext cx="4231250" cy="525875"/>
          </a:xfrm>
          <a:prstGeom prst="rect">
            <a:avLst/>
          </a:prstGeom>
          <a:noFill/>
          <a:ln>
            <a:noFill/>
          </a:ln>
        </p:spPr>
      </p:pic>
      <p:pic>
        <p:nvPicPr>
          <p:cNvPr id="78" name="Google Shape;78;p16"/>
          <p:cNvPicPr preferRelativeResize="0"/>
          <p:nvPr/>
        </p:nvPicPr>
        <p:blipFill>
          <a:blip r:embed="rId5">
            <a:alphaModFix/>
          </a:blip>
          <a:stretch>
            <a:fillRect/>
          </a:stretch>
        </p:blipFill>
        <p:spPr>
          <a:xfrm>
            <a:off x="1481401" y="2280739"/>
            <a:ext cx="2696000" cy="307238"/>
          </a:xfrm>
          <a:prstGeom prst="rect">
            <a:avLst/>
          </a:prstGeom>
          <a:noFill/>
          <a:ln>
            <a:noFill/>
          </a:ln>
        </p:spPr>
      </p:pic>
      <p:pic>
        <p:nvPicPr>
          <p:cNvPr id="79" name="Google Shape;79;p16"/>
          <p:cNvPicPr preferRelativeResize="0"/>
          <p:nvPr/>
        </p:nvPicPr>
        <p:blipFill>
          <a:blip r:embed="rId6">
            <a:alphaModFix/>
          </a:blip>
          <a:stretch>
            <a:fillRect/>
          </a:stretch>
        </p:blipFill>
        <p:spPr>
          <a:xfrm>
            <a:off x="2132424" y="2571749"/>
            <a:ext cx="2848227" cy="1124937"/>
          </a:xfrm>
          <a:prstGeom prst="rect">
            <a:avLst/>
          </a:prstGeom>
          <a:noFill/>
          <a:ln>
            <a:noFill/>
          </a:ln>
        </p:spPr>
      </p:pic>
      <p:pic>
        <p:nvPicPr>
          <p:cNvPr id="80" name="Google Shape;80;p16"/>
          <p:cNvPicPr preferRelativeResize="0"/>
          <p:nvPr/>
        </p:nvPicPr>
        <p:blipFill>
          <a:blip r:embed="rId7">
            <a:alphaModFix/>
          </a:blip>
          <a:stretch>
            <a:fillRect/>
          </a:stretch>
        </p:blipFill>
        <p:spPr>
          <a:xfrm>
            <a:off x="5313225" y="2266637"/>
            <a:ext cx="2486776" cy="335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Background: Classifier Guidance</a:t>
            </a:r>
            <a:endParaRPr/>
          </a:p>
        </p:txBody>
      </p:sp>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Makes the diffusion model controllable with label condition</a:t>
            </a:r>
            <a:endParaRPr/>
          </a:p>
          <a:p>
            <a:pPr indent="-342900" lvl="0" marL="457200" rtl="0" algn="l">
              <a:spcBef>
                <a:spcPts val="0"/>
              </a:spcBef>
              <a:spcAft>
                <a:spcPts val="0"/>
              </a:spcAft>
              <a:buSzPts val="1800"/>
              <a:buChar char="●"/>
            </a:pPr>
            <a:r>
              <a:rPr lang="zh-CN"/>
              <a:t>An extra classifier (independent with diffusion model) </a:t>
            </a:r>
            <a:r>
              <a:rPr lang="zh-CN"/>
              <a:t>needed </a:t>
            </a:r>
            <a:endParaRPr/>
          </a:p>
          <a:p>
            <a:pPr indent="-317500" lvl="1" marL="914400" rtl="0" algn="l">
              <a:spcBef>
                <a:spcPts val="0"/>
              </a:spcBef>
              <a:spcAft>
                <a:spcPts val="0"/>
              </a:spcAft>
              <a:buSzPts val="1400"/>
              <a:buChar char="○"/>
            </a:pPr>
            <a:r>
              <a:rPr lang="zh-CN"/>
              <a:t>No need for retraining</a:t>
            </a:r>
            <a:endParaRPr/>
          </a:p>
          <a:p>
            <a:pPr indent="-342900" lvl="0" marL="457200" rtl="0" algn="l">
              <a:spcBef>
                <a:spcPts val="0"/>
              </a:spcBef>
              <a:spcAft>
                <a:spcPts val="0"/>
              </a:spcAft>
              <a:buClr>
                <a:schemeClr val="accent1"/>
              </a:buClr>
              <a:buSzPts val="1800"/>
              <a:buChar char="●"/>
            </a:pPr>
            <a:r>
              <a:rPr lang="zh-CN">
                <a:solidFill>
                  <a:schemeClr val="accent1"/>
                </a:solidFill>
              </a:rPr>
              <a:t>The only change is the guidance term</a:t>
            </a:r>
            <a:endParaRPr>
              <a:solidFill>
                <a:schemeClr val="accent1"/>
              </a:solidFill>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zh-CN"/>
              <a:t>where g refers to:</a:t>
            </a:r>
            <a:endParaRPr/>
          </a:p>
          <a:p>
            <a:pPr indent="-342900" lvl="0" marL="457200" rtl="0" algn="l">
              <a:spcBef>
                <a:spcPts val="0"/>
              </a:spcBef>
              <a:spcAft>
                <a:spcPts val="0"/>
              </a:spcAft>
              <a:buSzPts val="1800"/>
              <a:buChar char="●"/>
            </a:pPr>
            <a:r>
              <a:rPr lang="zh-CN"/>
              <a:t>s refers to the gradient scale</a:t>
            </a:r>
            <a:endParaRPr/>
          </a:p>
          <a:p>
            <a:pPr indent="-342900" lvl="0" marL="457200" rtl="0" algn="l">
              <a:spcBef>
                <a:spcPts val="0"/>
              </a:spcBef>
              <a:spcAft>
                <a:spcPts val="0"/>
              </a:spcAft>
              <a:buSzPts val="1800"/>
              <a:buChar char="●"/>
            </a:pPr>
            <a:r>
              <a:rPr lang="zh-CN"/>
              <a:t>Tips: classifier can be</a:t>
            </a:r>
            <a:r>
              <a:rPr lang="zh-CN"/>
              <a:t> a</a:t>
            </a:r>
            <a:r>
              <a:rPr lang="zh-CN"/>
              <a:t> deterministic</a:t>
            </a:r>
            <a:r>
              <a:rPr lang="zh-CN"/>
              <a:t> function</a:t>
            </a:r>
            <a:r>
              <a:rPr lang="zh-CN"/>
              <a:t>, rather than a trained network.</a:t>
            </a:r>
            <a:endParaRPr/>
          </a:p>
          <a:p>
            <a:pPr indent="0" lvl="0" marL="914400" rtl="0" algn="l">
              <a:spcBef>
                <a:spcPts val="1200"/>
              </a:spcBef>
              <a:spcAft>
                <a:spcPts val="1200"/>
              </a:spcAft>
              <a:buNone/>
            </a:pPr>
            <a:r>
              <a:t/>
            </a:r>
            <a:endParaRPr/>
          </a:p>
        </p:txBody>
      </p:sp>
      <p:pic>
        <p:nvPicPr>
          <p:cNvPr id="87" name="Google Shape;87;p17"/>
          <p:cNvPicPr preferRelativeResize="0"/>
          <p:nvPr/>
        </p:nvPicPr>
        <p:blipFill rotWithShape="1">
          <a:blip r:embed="rId3">
            <a:alphaModFix/>
          </a:blip>
          <a:srcRect b="0" l="0" r="0" t="15618"/>
          <a:stretch/>
        </p:blipFill>
        <p:spPr>
          <a:xfrm>
            <a:off x="902525" y="2485250"/>
            <a:ext cx="4196276" cy="409000"/>
          </a:xfrm>
          <a:prstGeom prst="rect">
            <a:avLst/>
          </a:prstGeom>
          <a:noFill/>
          <a:ln>
            <a:noFill/>
          </a:ln>
        </p:spPr>
      </p:pic>
      <p:sp>
        <p:nvSpPr>
          <p:cNvPr id="88" name="Google Shape;88;p17"/>
          <p:cNvSpPr/>
          <p:nvPr/>
        </p:nvSpPr>
        <p:spPr>
          <a:xfrm>
            <a:off x="3238925" y="2485250"/>
            <a:ext cx="1078800" cy="322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9" name="Google Shape;89;p17"/>
          <p:cNvPicPr preferRelativeResize="0"/>
          <p:nvPr/>
        </p:nvPicPr>
        <p:blipFill>
          <a:blip r:embed="rId4">
            <a:alphaModFix/>
          </a:blip>
          <a:stretch>
            <a:fillRect/>
          </a:stretch>
        </p:blipFill>
        <p:spPr>
          <a:xfrm>
            <a:off x="2810825" y="2980775"/>
            <a:ext cx="2552876" cy="375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Related Works</a:t>
            </a:r>
            <a:endParaRPr/>
          </a:p>
        </p:txBody>
      </p:sp>
      <p:sp>
        <p:nvSpPr>
          <p:cNvPr id="95" name="Google Shape;9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Guided Motion Diffusion</a:t>
            </a:r>
            <a:endParaRPr/>
          </a:p>
          <a:p>
            <a:pPr indent="-342900" lvl="0" marL="457200" rtl="0" algn="l">
              <a:spcBef>
                <a:spcPts val="0"/>
              </a:spcBef>
              <a:spcAft>
                <a:spcPts val="0"/>
              </a:spcAft>
              <a:buSzPts val="1800"/>
              <a:buChar char="●"/>
            </a:pPr>
            <a:r>
              <a:rPr lang="zh-CN"/>
              <a:t>Kinematic Phrases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Related Work: Kinematic Phrases (KP)</a:t>
            </a:r>
            <a:endParaRPr/>
          </a:p>
        </p:txBody>
      </p:sp>
      <p:pic>
        <p:nvPicPr>
          <p:cNvPr id="101" name="Google Shape;101;p19"/>
          <p:cNvPicPr preferRelativeResize="0"/>
          <p:nvPr/>
        </p:nvPicPr>
        <p:blipFill rotWithShape="1">
          <a:blip r:embed="rId3">
            <a:alphaModFix/>
          </a:blip>
          <a:srcRect b="0" l="0" r="47878" t="0"/>
          <a:stretch/>
        </p:blipFill>
        <p:spPr>
          <a:xfrm>
            <a:off x="462225" y="1101050"/>
            <a:ext cx="3800452" cy="3416401"/>
          </a:xfrm>
          <a:prstGeom prst="rect">
            <a:avLst/>
          </a:prstGeom>
          <a:noFill/>
          <a:ln>
            <a:noFill/>
          </a:ln>
        </p:spPr>
      </p:pic>
      <p:sp>
        <p:nvSpPr>
          <p:cNvPr id="102" name="Google Shape;102;p19"/>
          <p:cNvSpPr txBox="1"/>
          <p:nvPr/>
        </p:nvSpPr>
        <p:spPr>
          <a:xfrm>
            <a:off x="4937925" y="1184525"/>
            <a:ext cx="4830000" cy="22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An intermediate representation</a:t>
            </a:r>
            <a:endParaRPr sz="1800">
              <a:solidFill>
                <a:schemeClr val="dk1"/>
              </a:solidFill>
            </a:endParaRPr>
          </a:p>
          <a:p>
            <a:pPr indent="0" lvl="0" marL="0" rtl="0" algn="l">
              <a:spcBef>
                <a:spcPts val="0"/>
              </a:spcBef>
              <a:spcAft>
                <a:spcPts val="0"/>
              </a:spcAft>
              <a:buNone/>
            </a:pPr>
            <a:r>
              <a:rPr lang="zh-CN" sz="1800">
                <a:solidFill>
                  <a:schemeClr val="dk1"/>
                </a:solidFill>
              </a:rPr>
              <a:t>which bridges the gap between </a:t>
            </a:r>
            <a:endParaRPr sz="1800">
              <a:solidFill>
                <a:schemeClr val="dk1"/>
              </a:solidFill>
            </a:endParaRPr>
          </a:p>
          <a:p>
            <a:pPr indent="0" lvl="0" marL="0" rtl="0" algn="l">
              <a:spcBef>
                <a:spcPts val="0"/>
              </a:spcBef>
              <a:spcAft>
                <a:spcPts val="0"/>
              </a:spcAft>
              <a:buNone/>
            </a:pPr>
            <a:r>
              <a:rPr lang="zh-CN" sz="1800">
                <a:solidFill>
                  <a:schemeClr val="dk1"/>
                </a:solidFill>
              </a:rPr>
              <a:t>human actions and action semantics.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zh-CN" sz="1800">
                <a:solidFill>
                  <a:schemeClr val="dk1"/>
                </a:solidFill>
              </a:rPr>
              <a:t>Input: motion sequences (L,J,3)</a:t>
            </a:r>
            <a:endParaRPr sz="1800">
              <a:solidFill>
                <a:schemeClr val="dk1"/>
              </a:solidFill>
            </a:endParaRPr>
          </a:p>
          <a:p>
            <a:pPr indent="0" lvl="0" marL="0" rtl="0" algn="l">
              <a:spcBef>
                <a:spcPts val="0"/>
              </a:spcBef>
              <a:spcAft>
                <a:spcPts val="0"/>
              </a:spcAft>
              <a:buNone/>
            </a:pPr>
            <a:r>
              <a:rPr lang="zh-CN" sz="1800">
                <a:solidFill>
                  <a:schemeClr val="dk1"/>
                </a:solidFill>
              </a:rPr>
              <a:t>Output: N*scores (L,N,1)</a:t>
            </a:r>
            <a:endParaRPr sz="1800">
              <a:solidFill>
                <a:schemeClr val="dk1"/>
              </a:solidFill>
            </a:endParaRPr>
          </a:p>
          <a:p>
            <a:pPr indent="0" lvl="0" marL="0" rtl="0" algn="l">
              <a:spcBef>
                <a:spcPts val="0"/>
              </a:spcBef>
              <a:spcAft>
                <a:spcPts val="0"/>
              </a:spcAft>
              <a:buNone/>
            </a:pPr>
            <a:r>
              <a:rPr lang="zh-CN" sz="1800">
                <a:solidFill>
                  <a:schemeClr val="dk1"/>
                </a:solidFill>
              </a:rPr>
              <a:t>Every score has its semantic meanings.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zh-CN" sz="1800">
                <a:solidFill>
                  <a:schemeClr val="dk1"/>
                </a:solidFill>
              </a:rPr>
              <a:t>In one of our methods,</a:t>
            </a:r>
            <a:endParaRPr sz="1800">
              <a:solidFill>
                <a:schemeClr val="dk1"/>
              </a:solidFill>
            </a:endParaRPr>
          </a:p>
          <a:p>
            <a:pPr indent="0" lvl="0" marL="0" rtl="0" algn="l">
              <a:spcBef>
                <a:spcPts val="0"/>
              </a:spcBef>
              <a:spcAft>
                <a:spcPts val="0"/>
              </a:spcAft>
              <a:buNone/>
            </a:pPr>
            <a:r>
              <a:rPr lang="zh-CN" sz="1800">
                <a:solidFill>
                  <a:schemeClr val="dk1"/>
                </a:solidFill>
              </a:rPr>
              <a:t>we build our classifier based on KPs.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Related Work: Guided Motion Diffusion (GMD)</a:t>
            </a:r>
            <a:endParaRPr/>
          </a:p>
        </p:txBody>
      </p:sp>
      <p:pic>
        <p:nvPicPr>
          <p:cNvPr id="108" name="Google Shape;108;p20"/>
          <p:cNvPicPr preferRelativeResize="0"/>
          <p:nvPr/>
        </p:nvPicPr>
        <p:blipFill>
          <a:blip r:embed="rId3">
            <a:alphaModFix/>
          </a:blip>
          <a:stretch>
            <a:fillRect/>
          </a:stretch>
        </p:blipFill>
        <p:spPr>
          <a:xfrm>
            <a:off x="425002" y="1017725"/>
            <a:ext cx="3924201" cy="3908749"/>
          </a:xfrm>
          <a:prstGeom prst="rect">
            <a:avLst/>
          </a:prstGeom>
          <a:noFill/>
          <a:ln>
            <a:noFill/>
          </a:ln>
        </p:spPr>
      </p:pic>
      <p:sp>
        <p:nvSpPr>
          <p:cNvPr id="109" name="Google Shape;109;p20"/>
          <p:cNvSpPr txBox="1"/>
          <p:nvPr/>
        </p:nvSpPr>
        <p:spPr>
          <a:xfrm>
            <a:off x="4945800" y="1263175"/>
            <a:ext cx="4029900" cy="8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A Text-to-Motion model with partial trajectory information provided.</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zh-CN" sz="1800">
                <a:solidFill>
                  <a:schemeClr val="dk1"/>
                </a:solidFill>
              </a:rPr>
              <a:t>Their main contributions:</a:t>
            </a:r>
            <a:endParaRPr sz="1800">
              <a:solidFill>
                <a:schemeClr val="dk1"/>
              </a:solidFill>
            </a:endParaRPr>
          </a:p>
          <a:p>
            <a:pPr indent="-342900" lvl="0" marL="457200" rtl="0" algn="l">
              <a:spcBef>
                <a:spcPts val="0"/>
              </a:spcBef>
              <a:spcAft>
                <a:spcPts val="0"/>
              </a:spcAft>
              <a:buClr>
                <a:schemeClr val="dk1"/>
              </a:buClr>
              <a:buSzPts val="1800"/>
              <a:buChar char="★"/>
            </a:pPr>
            <a:r>
              <a:rPr lang="zh-CN" sz="1800">
                <a:solidFill>
                  <a:schemeClr val="dk1"/>
                </a:solidFill>
              </a:rPr>
              <a:t>Emphasis projection</a:t>
            </a:r>
            <a:endParaRPr sz="1800">
              <a:solidFill>
                <a:schemeClr val="dk1"/>
              </a:solidFill>
            </a:endParaRPr>
          </a:p>
          <a:p>
            <a:pPr indent="-342900" lvl="0" marL="457200" rtl="0" algn="l">
              <a:spcBef>
                <a:spcPts val="0"/>
              </a:spcBef>
              <a:spcAft>
                <a:spcPts val="0"/>
              </a:spcAft>
              <a:buClr>
                <a:schemeClr val="dk1"/>
              </a:buClr>
              <a:buSzPts val="1800"/>
              <a:buChar char="★"/>
            </a:pPr>
            <a:r>
              <a:rPr lang="zh-CN" sz="1800">
                <a:solidFill>
                  <a:schemeClr val="dk1"/>
                </a:solidFill>
              </a:rPr>
              <a:t>Dense signal propagation</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Motivation</a:t>
            </a:r>
            <a:endParaRPr/>
          </a:p>
        </p:txBody>
      </p:sp>
      <p:sp>
        <p:nvSpPr>
          <p:cNvPr id="115" name="Google Shape;115;p21"/>
          <p:cNvSpPr txBox="1"/>
          <p:nvPr>
            <p:ph idx="1" type="body"/>
          </p:nvPr>
        </p:nvSpPr>
        <p:spPr>
          <a:xfrm>
            <a:off x="456300" y="1160475"/>
            <a:ext cx="82314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AutoNum type="arabicPeriod"/>
            </a:pPr>
            <a:r>
              <a:rPr lang="zh-CN" sz="1600">
                <a:solidFill>
                  <a:schemeClr val="dk1"/>
                </a:solidFill>
                <a:highlight>
                  <a:srgbClr val="FFFFFF"/>
                </a:highlight>
              </a:rPr>
              <a:t>Previous motion synthesis lack universal </a:t>
            </a:r>
            <a:r>
              <a:rPr lang="zh-CN" sz="1600">
                <a:solidFill>
                  <a:schemeClr val="dk1"/>
                </a:solidFill>
                <a:highlight>
                  <a:srgbClr val="FFFFFF"/>
                </a:highlight>
              </a:rPr>
              <a:t>quantitative</a:t>
            </a:r>
            <a:r>
              <a:rPr lang="zh-CN" sz="1600">
                <a:solidFill>
                  <a:schemeClr val="dk1"/>
                </a:solidFill>
                <a:highlight>
                  <a:srgbClr val="FFFFFF"/>
                </a:highlight>
              </a:rPr>
              <a:t> objectives to evaluate the synthesised motions and mainstream practice relies on real human feedback to support proper assessment.</a:t>
            </a:r>
            <a:endParaRPr sz="1600">
              <a:solidFill>
                <a:schemeClr val="dk1"/>
              </a:solidFill>
              <a:highlight>
                <a:srgbClr val="FFFFFF"/>
              </a:highlight>
            </a:endParaRPr>
          </a:p>
          <a:p>
            <a:pPr indent="-330200" lvl="0" marL="457200" rtl="0" algn="l">
              <a:spcBef>
                <a:spcPts val="0"/>
              </a:spcBef>
              <a:spcAft>
                <a:spcPts val="0"/>
              </a:spcAft>
              <a:buClr>
                <a:schemeClr val="dk1"/>
              </a:buClr>
              <a:buSzPts val="1600"/>
              <a:buAutoNum type="arabicPeriod"/>
            </a:pPr>
            <a:r>
              <a:rPr lang="zh-CN" sz="1600">
                <a:solidFill>
                  <a:schemeClr val="dk1"/>
                </a:solidFill>
                <a:highlight>
                  <a:srgbClr val="FFFFFF"/>
                </a:highlight>
              </a:rPr>
              <a:t>Traditional </a:t>
            </a:r>
            <a:r>
              <a:rPr lang="zh-CN" sz="1600">
                <a:solidFill>
                  <a:schemeClr val="dk1"/>
                </a:solidFill>
                <a:highlight>
                  <a:srgbClr val="FFFFFF"/>
                </a:highlight>
              </a:rPr>
              <a:t>multimodal </a:t>
            </a:r>
            <a:r>
              <a:rPr lang="zh-CN" sz="1600">
                <a:solidFill>
                  <a:schemeClr val="dk1"/>
                </a:solidFill>
                <a:highlight>
                  <a:srgbClr val="FFFFFF"/>
                </a:highlight>
              </a:rPr>
              <a:t> generation paradigm </a:t>
            </a:r>
            <a:r>
              <a:rPr lang="zh-CN" sz="1600">
                <a:solidFill>
                  <a:schemeClr val="dk1"/>
                </a:solidFill>
                <a:highlight>
                  <a:srgbClr val="FFFFFF"/>
                </a:highlight>
              </a:rPr>
              <a:t>introduced</a:t>
            </a:r>
            <a:r>
              <a:rPr lang="zh-CN" sz="1600">
                <a:solidFill>
                  <a:schemeClr val="dk1"/>
                </a:solidFill>
                <a:highlight>
                  <a:srgbClr val="FFFFFF"/>
                </a:highlight>
              </a:rPr>
              <a:t> by Latent Diffusion requires </a:t>
            </a:r>
            <a:r>
              <a:rPr lang="zh-CN" sz="1600">
                <a:solidFill>
                  <a:schemeClr val="dk1"/>
                </a:solidFill>
                <a:highlight>
                  <a:srgbClr val="FFFFFF"/>
                </a:highlight>
              </a:rPr>
              <a:t>directly</a:t>
            </a:r>
            <a:r>
              <a:rPr lang="zh-CN" sz="1600">
                <a:solidFill>
                  <a:schemeClr val="dk1"/>
                </a:solidFill>
                <a:highlight>
                  <a:srgbClr val="FFFFFF"/>
                </a:highlight>
              </a:rPr>
              <a:t> concating multimodal information. This appoach struggles to cross the domain gap in motion and language.</a:t>
            </a:r>
            <a:endParaRPr sz="1600">
              <a:solidFill>
                <a:schemeClr val="dk1"/>
              </a:solidFill>
              <a:highlight>
                <a:srgbClr val="FFFFFF"/>
              </a:highlight>
            </a:endParaRPr>
          </a:p>
          <a:p>
            <a:pPr indent="-330200" lvl="0" marL="457200" rtl="0" algn="l">
              <a:spcBef>
                <a:spcPts val="0"/>
              </a:spcBef>
              <a:spcAft>
                <a:spcPts val="0"/>
              </a:spcAft>
              <a:buClr>
                <a:schemeClr val="dk1"/>
              </a:buClr>
              <a:buSzPts val="1600"/>
              <a:buAutoNum type="arabicPeriod"/>
            </a:pPr>
            <a:r>
              <a:rPr lang="zh-CN" sz="1600">
                <a:solidFill>
                  <a:schemeClr val="dk1"/>
                </a:solidFill>
                <a:highlight>
                  <a:srgbClr val="FFFFFF"/>
                </a:highlight>
              </a:rPr>
              <a:t>GMD focus more on </a:t>
            </a:r>
            <a:r>
              <a:rPr lang="zh-CN" sz="1600">
                <a:solidFill>
                  <a:schemeClr val="dk1"/>
                </a:solidFill>
                <a:highlight>
                  <a:srgbClr val="FFFFFF"/>
                </a:highlight>
              </a:rPr>
              <a:t>industrial</a:t>
            </a:r>
            <a:r>
              <a:rPr lang="zh-CN" sz="1600">
                <a:solidFill>
                  <a:schemeClr val="dk1"/>
                </a:solidFill>
                <a:highlight>
                  <a:srgbClr val="FFFFFF"/>
                </a:highlight>
              </a:rPr>
              <a:t>  applicational pipeline when the main contribution and innovation focus on how to </a:t>
            </a:r>
            <a:r>
              <a:rPr lang="zh-CN" sz="1600">
                <a:solidFill>
                  <a:schemeClr val="dk1"/>
                </a:solidFill>
                <a:highlight>
                  <a:srgbClr val="FFFFFF"/>
                </a:highlight>
              </a:rPr>
              <a:t>better</a:t>
            </a:r>
            <a:r>
              <a:rPr lang="zh-CN" sz="1600">
                <a:solidFill>
                  <a:schemeClr val="dk1"/>
                </a:solidFill>
                <a:highlight>
                  <a:srgbClr val="FFFFFF"/>
                </a:highlight>
              </a:rPr>
              <a:t> use trajectory and key frame information but not semantic compatibility </a:t>
            </a:r>
            <a:endParaRPr sz="1600">
              <a:solidFill>
                <a:schemeClr val="dk1"/>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69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Methods: Overview</a:t>
            </a:r>
            <a:endParaRPr/>
          </a:p>
        </p:txBody>
      </p:sp>
      <p:pic>
        <p:nvPicPr>
          <p:cNvPr id="121" name="Google Shape;121;p22"/>
          <p:cNvPicPr preferRelativeResize="0"/>
          <p:nvPr/>
        </p:nvPicPr>
        <p:blipFill rotWithShape="1">
          <a:blip r:embed="rId3">
            <a:alphaModFix/>
          </a:blip>
          <a:srcRect b="0" l="0" r="0" t="1244"/>
          <a:stretch/>
        </p:blipFill>
        <p:spPr>
          <a:xfrm>
            <a:off x="953550" y="1503525"/>
            <a:ext cx="6926852" cy="2932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4634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Methods: Kinematic Classifier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4634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Methods: Kinematic </a:t>
            </a:r>
            <a:r>
              <a:rPr lang="zh-CN"/>
              <a:t>Classifier</a:t>
            </a:r>
            <a:endParaRPr/>
          </a:p>
        </p:txBody>
      </p:sp>
      <p:sp>
        <p:nvSpPr>
          <p:cNvPr id="132" name="Google Shape;132;p24"/>
          <p:cNvSpPr txBox="1"/>
          <p:nvPr/>
        </p:nvSpPr>
        <p:spPr>
          <a:xfrm>
            <a:off x="803825" y="1263175"/>
            <a:ext cx="3076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A typical Kinematic Phrase:</a:t>
            </a:r>
            <a:endParaRPr sz="1800">
              <a:solidFill>
                <a:schemeClr val="dk1"/>
              </a:solidFill>
            </a:endParaRPr>
          </a:p>
        </p:txBody>
      </p:sp>
      <p:pic>
        <p:nvPicPr>
          <p:cNvPr id="133" name="Google Shape;133;p24"/>
          <p:cNvPicPr preferRelativeResize="0"/>
          <p:nvPr/>
        </p:nvPicPr>
        <p:blipFill>
          <a:blip r:embed="rId3">
            <a:alphaModFix/>
          </a:blip>
          <a:stretch>
            <a:fillRect/>
          </a:stretch>
        </p:blipFill>
        <p:spPr>
          <a:xfrm>
            <a:off x="803825" y="1885150"/>
            <a:ext cx="3805575" cy="2745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4634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Methods: Kinematic </a:t>
            </a:r>
            <a:r>
              <a:rPr lang="zh-CN"/>
              <a:t>Classifier</a:t>
            </a:r>
            <a:endParaRPr/>
          </a:p>
        </p:txBody>
      </p:sp>
      <p:sp>
        <p:nvSpPr>
          <p:cNvPr id="139" name="Google Shape;139;p25"/>
          <p:cNvSpPr txBox="1"/>
          <p:nvPr/>
        </p:nvSpPr>
        <p:spPr>
          <a:xfrm>
            <a:off x="803825" y="1263175"/>
            <a:ext cx="3076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A typical Kinematic Phrase:</a:t>
            </a:r>
            <a:endParaRPr sz="1800">
              <a:solidFill>
                <a:schemeClr val="dk1"/>
              </a:solidFill>
            </a:endParaRPr>
          </a:p>
        </p:txBody>
      </p:sp>
      <p:pic>
        <p:nvPicPr>
          <p:cNvPr id="140" name="Google Shape;140;p25"/>
          <p:cNvPicPr preferRelativeResize="0"/>
          <p:nvPr/>
        </p:nvPicPr>
        <p:blipFill>
          <a:blip r:embed="rId3">
            <a:alphaModFix/>
          </a:blip>
          <a:stretch>
            <a:fillRect/>
          </a:stretch>
        </p:blipFill>
        <p:spPr>
          <a:xfrm>
            <a:off x="803825" y="1885150"/>
            <a:ext cx="3805575" cy="2745400"/>
          </a:xfrm>
          <a:prstGeom prst="rect">
            <a:avLst/>
          </a:prstGeom>
          <a:noFill/>
          <a:ln>
            <a:noFill/>
          </a:ln>
        </p:spPr>
      </p:pic>
      <p:sp>
        <p:nvSpPr>
          <p:cNvPr id="141" name="Google Shape;141;p25"/>
          <p:cNvSpPr txBox="1"/>
          <p:nvPr/>
        </p:nvSpPr>
        <p:spPr>
          <a:xfrm>
            <a:off x="4945800" y="1263175"/>
            <a:ext cx="4029900" cy="8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a sequence of indicator value of certain portray in skeleton movement</a:t>
            </a: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4634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Methods: Kinematic Classifier</a:t>
            </a:r>
            <a:endParaRPr/>
          </a:p>
        </p:txBody>
      </p:sp>
      <p:sp>
        <p:nvSpPr>
          <p:cNvPr id="147" name="Google Shape;147;p26"/>
          <p:cNvSpPr txBox="1"/>
          <p:nvPr/>
        </p:nvSpPr>
        <p:spPr>
          <a:xfrm>
            <a:off x="803825" y="1263175"/>
            <a:ext cx="3076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A typical Kinematic Phrase:</a:t>
            </a:r>
            <a:endParaRPr sz="1800">
              <a:solidFill>
                <a:schemeClr val="dk1"/>
              </a:solidFill>
            </a:endParaRPr>
          </a:p>
        </p:txBody>
      </p:sp>
      <p:pic>
        <p:nvPicPr>
          <p:cNvPr id="148" name="Google Shape;148;p26"/>
          <p:cNvPicPr preferRelativeResize="0"/>
          <p:nvPr/>
        </p:nvPicPr>
        <p:blipFill>
          <a:blip r:embed="rId3">
            <a:alphaModFix/>
          </a:blip>
          <a:stretch>
            <a:fillRect/>
          </a:stretch>
        </p:blipFill>
        <p:spPr>
          <a:xfrm>
            <a:off x="803825" y="1885150"/>
            <a:ext cx="3805575" cy="2745400"/>
          </a:xfrm>
          <a:prstGeom prst="rect">
            <a:avLst/>
          </a:prstGeom>
          <a:noFill/>
          <a:ln>
            <a:noFill/>
          </a:ln>
        </p:spPr>
      </p:pic>
      <p:sp>
        <p:nvSpPr>
          <p:cNvPr id="149" name="Google Shape;149;p26"/>
          <p:cNvSpPr txBox="1"/>
          <p:nvPr/>
        </p:nvSpPr>
        <p:spPr>
          <a:xfrm>
            <a:off x="4947900" y="1263175"/>
            <a:ext cx="4029900" cy="8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a sequence of indicator value of certain portray in skeleton movement</a:t>
            </a:r>
            <a:endParaRPr sz="1800">
              <a:solidFill>
                <a:schemeClr val="dk1"/>
              </a:solidFill>
            </a:endParaRPr>
          </a:p>
        </p:txBody>
      </p:sp>
      <p:cxnSp>
        <p:nvCxnSpPr>
          <p:cNvPr id="150" name="Google Shape;150;p26"/>
          <p:cNvCxnSpPr>
            <a:stCxn id="149" idx="2"/>
          </p:cNvCxnSpPr>
          <p:nvPr/>
        </p:nvCxnSpPr>
        <p:spPr>
          <a:xfrm>
            <a:off x="6962850" y="2096575"/>
            <a:ext cx="4200" cy="542100"/>
          </a:xfrm>
          <a:prstGeom prst="straightConnector1">
            <a:avLst/>
          </a:prstGeom>
          <a:noFill/>
          <a:ln cap="flat" cmpd="sng" w="9525">
            <a:solidFill>
              <a:schemeClr val="dk2"/>
            </a:solidFill>
            <a:prstDash val="solid"/>
            <a:round/>
            <a:headEnd len="med" w="med" type="none"/>
            <a:tailEnd len="med" w="med" type="triangle"/>
          </a:ln>
        </p:spPr>
      </p:cxnSp>
      <p:sp>
        <p:nvSpPr>
          <p:cNvPr id="151" name="Google Shape;151;p26"/>
          <p:cNvSpPr txBox="1"/>
          <p:nvPr/>
        </p:nvSpPr>
        <p:spPr>
          <a:xfrm>
            <a:off x="5650925" y="1991491"/>
            <a:ext cx="1217700" cy="54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CN" sz="1800">
                <a:solidFill>
                  <a:schemeClr val="dk2"/>
                </a:solidFill>
              </a:rPr>
              <a:t>average over time</a:t>
            </a:r>
            <a:endParaRPr sz="1800">
              <a:solidFill>
                <a:schemeClr val="dk2"/>
              </a:solidFill>
            </a:endParaRPr>
          </a:p>
        </p:txBody>
      </p:sp>
      <p:sp>
        <p:nvSpPr>
          <p:cNvPr id="152" name="Google Shape;152;p26"/>
          <p:cNvSpPr txBox="1"/>
          <p:nvPr/>
        </p:nvSpPr>
        <p:spPr>
          <a:xfrm>
            <a:off x="5593950" y="2808575"/>
            <a:ext cx="27378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dense kinematic signal </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445025"/>
            <a:ext cx="4634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Methods: Kinematic Classifier</a:t>
            </a:r>
            <a:endParaRPr/>
          </a:p>
        </p:txBody>
      </p:sp>
      <p:sp>
        <p:nvSpPr>
          <p:cNvPr id="158" name="Google Shape;158;p27"/>
          <p:cNvSpPr txBox="1"/>
          <p:nvPr/>
        </p:nvSpPr>
        <p:spPr>
          <a:xfrm>
            <a:off x="803825" y="1263175"/>
            <a:ext cx="3076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A typical Kinematic Phrase:</a:t>
            </a:r>
            <a:endParaRPr sz="1800">
              <a:solidFill>
                <a:schemeClr val="dk1"/>
              </a:solidFill>
            </a:endParaRPr>
          </a:p>
        </p:txBody>
      </p:sp>
      <p:pic>
        <p:nvPicPr>
          <p:cNvPr id="159" name="Google Shape;159;p27"/>
          <p:cNvPicPr preferRelativeResize="0"/>
          <p:nvPr/>
        </p:nvPicPr>
        <p:blipFill>
          <a:blip r:embed="rId3">
            <a:alphaModFix/>
          </a:blip>
          <a:stretch>
            <a:fillRect/>
          </a:stretch>
        </p:blipFill>
        <p:spPr>
          <a:xfrm>
            <a:off x="803825" y="1885150"/>
            <a:ext cx="3805575" cy="2745400"/>
          </a:xfrm>
          <a:prstGeom prst="rect">
            <a:avLst/>
          </a:prstGeom>
          <a:noFill/>
          <a:ln>
            <a:noFill/>
          </a:ln>
        </p:spPr>
      </p:pic>
      <p:sp>
        <p:nvSpPr>
          <p:cNvPr id="160" name="Google Shape;160;p27"/>
          <p:cNvSpPr txBox="1"/>
          <p:nvPr/>
        </p:nvSpPr>
        <p:spPr>
          <a:xfrm>
            <a:off x="4947900" y="1263175"/>
            <a:ext cx="4029900" cy="8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a sequence of indicator value of certain portray in skeleton movement</a:t>
            </a:r>
            <a:endParaRPr sz="1800">
              <a:solidFill>
                <a:schemeClr val="dk1"/>
              </a:solidFill>
            </a:endParaRPr>
          </a:p>
        </p:txBody>
      </p:sp>
      <p:cxnSp>
        <p:nvCxnSpPr>
          <p:cNvPr id="161" name="Google Shape;161;p27"/>
          <p:cNvCxnSpPr>
            <a:stCxn id="160" idx="2"/>
          </p:cNvCxnSpPr>
          <p:nvPr/>
        </p:nvCxnSpPr>
        <p:spPr>
          <a:xfrm>
            <a:off x="6962850" y="2096575"/>
            <a:ext cx="4200" cy="542100"/>
          </a:xfrm>
          <a:prstGeom prst="straightConnector1">
            <a:avLst/>
          </a:prstGeom>
          <a:noFill/>
          <a:ln cap="flat" cmpd="sng" w="9525">
            <a:solidFill>
              <a:schemeClr val="dk2"/>
            </a:solidFill>
            <a:prstDash val="solid"/>
            <a:round/>
            <a:headEnd len="med" w="med" type="none"/>
            <a:tailEnd len="med" w="med" type="triangle"/>
          </a:ln>
        </p:spPr>
      </p:cxnSp>
      <p:sp>
        <p:nvSpPr>
          <p:cNvPr id="162" name="Google Shape;162;p27"/>
          <p:cNvSpPr txBox="1"/>
          <p:nvPr/>
        </p:nvSpPr>
        <p:spPr>
          <a:xfrm>
            <a:off x="5650925" y="1991503"/>
            <a:ext cx="1217700" cy="72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CN" sz="1800">
                <a:solidFill>
                  <a:schemeClr val="dk2"/>
                </a:solidFill>
              </a:rPr>
              <a:t>average over time</a:t>
            </a:r>
            <a:endParaRPr sz="1800">
              <a:solidFill>
                <a:schemeClr val="dk2"/>
              </a:solidFill>
            </a:endParaRPr>
          </a:p>
        </p:txBody>
      </p:sp>
      <p:sp>
        <p:nvSpPr>
          <p:cNvPr id="163" name="Google Shape;163;p27"/>
          <p:cNvSpPr txBox="1"/>
          <p:nvPr/>
        </p:nvSpPr>
        <p:spPr>
          <a:xfrm>
            <a:off x="5593950" y="2808575"/>
            <a:ext cx="2737800" cy="5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dense kinematic signal </a:t>
            </a:r>
            <a:endParaRPr sz="1800">
              <a:solidFill>
                <a:schemeClr val="dk1"/>
              </a:solidFill>
            </a:endParaRPr>
          </a:p>
        </p:txBody>
      </p:sp>
      <p:sp>
        <p:nvSpPr>
          <p:cNvPr id="164" name="Google Shape;164;p27"/>
          <p:cNvSpPr txBox="1"/>
          <p:nvPr/>
        </p:nvSpPr>
        <p:spPr>
          <a:xfrm>
            <a:off x="5687100" y="3583650"/>
            <a:ext cx="2591700" cy="9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Goal: activate </a:t>
            </a:r>
            <a:r>
              <a:rPr lang="zh-CN" sz="1800">
                <a:solidFill>
                  <a:schemeClr val="dk1"/>
                </a:solidFill>
              </a:rPr>
              <a:t>classifier</a:t>
            </a:r>
            <a:r>
              <a:rPr lang="zh-CN" sz="1800">
                <a:solidFill>
                  <a:schemeClr val="dk1"/>
                </a:solidFill>
              </a:rPr>
              <a:t> based on scenerio</a:t>
            </a: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311700" y="445025"/>
            <a:ext cx="5771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Methods: Semantic Adaptive Activation</a:t>
            </a:r>
            <a:endParaRPr/>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311700" y="445025"/>
            <a:ext cx="5771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Methods: </a:t>
            </a:r>
            <a:r>
              <a:rPr lang="zh-CN"/>
              <a:t>Semantic Adaptive Activation</a:t>
            </a:r>
            <a:endParaRPr/>
          </a:p>
          <a:p>
            <a:pPr indent="0" lvl="0" marL="0" rtl="0" algn="l">
              <a:spcBef>
                <a:spcPts val="0"/>
              </a:spcBef>
              <a:spcAft>
                <a:spcPts val="0"/>
              </a:spcAft>
              <a:buNone/>
            </a:pPr>
            <a:r>
              <a:t/>
            </a:r>
            <a:endParaRPr/>
          </a:p>
        </p:txBody>
      </p:sp>
      <p:sp>
        <p:nvSpPr>
          <p:cNvPr id="175" name="Google Shape;175;p29"/>
          <p:cNvSpPr txBox="1"/>
          <p:nvPr/>
        </p:nvSpPr>
        <p:spPr>
          <a:xfrm>
            <a:off x="547450" y="2987975"/>
            <a:ext cx="1113600" cy="4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text input</a:t>
            </a:r>
            <a:endParaRPr sz="1800">
              <a:solidFill>
                <a:schemeClr val="dk1"/>
              </a:solidFill>
            </a:endParaRPr>
          </a:p>
        </p:txBody>
      </p:sp>
      <p:cxnSp>
        <p:nvCxnSpPr>
          <p:cNvPr id="176" name="Google Shape;176;p29"/>
          <p:cNvCxnSpPr>
            <a:stCxn id="175" idx="3"/>
            <a:endCxn id="177" idx="3"/>
          </p:cNvCxnSpPr>
          <p:nvPr/>
        </p:nvCxnSpPr>
        <p:spPr>
          <a:xfrm>
            <a:off x="1661050" y="3224375"/>
            <a:ext cx="957600" cy="2100"/>
          </a:xfrm>
          <a:prstGeom prst="straightConnector1">
            <a:avLst/>
          </a:prstGeom>
          <a:noFill/>
          <a:ln cap="flat" cmpd="sng" w="19050">
            <a:solidFill>
              <a:schemeClr val="dk1"/>
            </a:solidFill>
            <a:prstDash val="solid"/>
            <a:round/>
            <a:headEnd len="med" w="med" type="none"/>
            <a:tailEnd len="med" w="med" type="triangle"/>
          </a:ln>
        </p:spPr>
      </p:cxnSp>
      <p:sp>
        <p:nvSpPr>
          <p:cNvPr id="177" name="Google Shape;177;p29"/>
          <p:cNvSpPr txBox="1"/>
          <p:nvPr/>
        </p:nvSpPr>
        <p:spPr>
          <a:xfrm>
            <a:off x="1745200" y="2865725"/>
            <a:ext cx="873300" cy="72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CLIP</a:t>
            </a:r>
            <a:endParaRPr sz="1800">
              <a:solidFill>
                <a:schemeClr val="dk1"/>
              </a:solidFill>
            </a:endParaRPr>
          </a:p>
          <a:p>
            <a:pPr indent="0" lvl="0" marL="0" rtl="0" algn="l">
              <a:spcBef>
                <a:spcPts val="0"/>
              </a:spcBef>
              <a:spcAft>
                <a:spcPts val="0"/>
              </a:spcAft>
              <a:buNone/>
            </a:pPr>
            <a:r>
              <a:rPr lang="zh-CN" sz="1800">
                <a:solidFill>
                  <a:schemeClr val="dk1"/>
                </a:solidFill>
              </a:rPr>
              <a:t>+MLP</a:t>
            </a:r>
            <a:endParaRPr sz="1800">
              <a:solidFill>
                <a:schemeClr val="dk1"/>
              </a:solidFill>
            </a:endParaRPr>
          </a:p>
        </p:txBody>
      </p:sp>
      <p:sp>
        <p:nvSpPr>
          <p:cNvPr id="178" name="Google Shape;178;p29"/>
          <p:cNvSpPr txBox="1"/>
          <p:nvPr/>
        </p:nvSpPr>
        <p:spPr>
          <a:xfrm>
            <a:off x="783800" y="1704200"/>
            <a:ext cx="1113600" cy="4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KP item</a:t>
            </a:r>
            <a:endParaRPr sz="1800">
              <a:solidFill>
                <a:schemeClr val="dk1"/>
              </a:solidFill>
            </a:endParaRPr>
          </a:p>
        </p:txBody>
      </p:sp>
      <p:sp>
        <p:nvSpPr>
          <p:cNvPr id="179" name="Google Shape;179;p29"/>
          <p:cNvSpPr/>
          <p:nvPr/>
        </p:nvSpPr>
        <p:spPr>
          <a:xfrm>
            <a:off x="1965650" y="1872500"/>
            <a:ext cx="320400" cy="136200"/>
          </a:xfrm>
          <a:prstGeom prst="leftRightArrow">
            <a:avLst>
              <a:gd fmla="val 50000" name="adj1"/>
              <a:gd fmla="val 50000" name="adj2"/>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9"/>
          <p:cNvSpPr txBox="1"/>
          <p:nvPr/>
        </p:nvSpPr>
        <p:spPr>
          <a:xfrm>
            <a:off x="2507600" y="1556575"/>
            <a:ext cx="1395900" cy="72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CN" sz="1800">
                <a:solidFill>
                  <a:schemeClr val="dk1"/>
                </a:solidFill>
              </a:rPr>
              <a:t>trainable embedding</a:t>
            </a:r>
            <a:endParaRPr sz="1800">
              <a:solidFill>
                <a:schemeClr val="dk1"/>
              </a:solidFill>
            </a:endParaRPr>
          </a:p>
        </p:txBody>
      </p:sp>
      <p:sp>
        <p:nvSpPr>
          <p:cNvPr id="181" name="Google Shape;181;p29"/>
          <p:cNvSpPr txBox="1"/>
          <p:nvPr/>
        </p:nvSpPr>
        <p:spPr>
          <a:xfrm>
            <a:off x="2676775" y="2863775"/>
            <a:ext cx="1113600" cy="72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CN" sz="1800">
                <a:solidFill>
                  <a:schemeClr val="dk1"/>
                </a:solidFill>
              </a:rPr>
              <a:t>scenerio semantic</a:t>
            </a:r>
            <a:endParaRPr sz="1800">
              <a:solidFill>
                <a:schemeClr val="dk1"/>
              </a:solidFill>
            </a:endParaRPr>
          </a:p>
        </p:txBody>
      </p:sp>
      <p:sp>
        <p:nvSpPr>
          <p:cNvPr id="182" name="Google Shape;182;p29"/>
          <p:cNvSpPr/>
          <p:nvPr/>
        </p:nvSpPr>
        <p:spPr>
          <a:xfrm>
            <a:off x="3016400" y="2387175"/>
            <a:ext cx="378300" cy="3672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9"/>
          <p:cNvSpPr/>
          <p:nvPr/>
        </p:nvSpPr>
        <p:spPr>
          <a:xfrm>
            <a:off x="3714175" y="2431075"/>
            <a:ext cx="400500" cy="191700"/>
          </a:xfrm>
          <a:prstGeom prst="rightArrow">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29"/>
          <p:cNvSpPr txBox="1"/>
          <p:nvPr/>
        </p:nvSpPr>
        <p:spPr>
          <a:xfrm>
            <a:off x="3880938" y="2111275"/>
            <a:ext cx="18957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CN" sz="2100">
                <a:solidFill>
                  <a:srgbClr val="202124"/>
                </a:solidFill>
                <a:highlight>
                  <a:srgbClr val="FFFFFF"/>
                </a:highlight>
              </a:rPr>
              <a:t>similarity</a:t>
            </a:r>
            <a:endParaRPr sz="2100">
              <a:solidFill>
                <a:srgbClr val="202124"/>
              </a:solidFill>
              <a:highlight>
                <a:srgbClr val="FFFFFF"/>
              </a:highlight>
            </a:endParaRPr>
          </a:p>
          <a:p>
            <a:pPr indent="0" lvl="0" marL="0" rtl="0" algn="ctr">
              <a:spcBef>
                <a:spcPts val="0"/>
              </a:spcBef>
              <a:spcAft>
                <a:spcPts val="0"/>
              </a:spcAft>
              <a:buNone/>
            </a:pPr>
            <a:r>
              <a:rPr lang="zh-CN" sz="2100">
                <a:solidFill>
                  <a:srgbClr val="202124"/>
                </a:solidFill>
                <a:highlight>
                  <a:srgbClr val="FFFFFF"/>
                </a:highlight>
              </a:rPr>
              <a:t>rank</a:t>
            </a:r>
            <a:endParaRPr sz="2100">
              <a:solidFill>
                <a:srgbClr val="202124"/>
              </a:solidFill>
              <a:highlight>
                <a:srgbClr val="FFFFFF"/>
              </a:highlight>
            </a:endParaRPr>
          </a:p>
        </p:txBody>
      </p:sp>
      <p:sp>
        <p:nvSpPr>
          <p:cNvPr id="185" name="Google Shape;185;p29"/>
          <p:cNvSpPr txBox="1"/>
          <p:nvPr/>
        </p:nvSpPr>
        <p:spPr>
          <a:xfrm>
            <a:off x="5498325" y="2231325"/>
            <a:ext cx="721200" cy="2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top-k</a:t>
            </a:r>
            <a:endParaRPr>
              <a:solidFill>
                <a:schemeClr val="dk1"/>
              </a:solidFill>
            </a:endParaRPr>
          </a:p>
        </p:txBody>
      </p:sp>
      <p:cxnSp>
        <p:nvCxnSpPr>
          <p:cNvPr id="186" name="Google Shape;186;p29"/>
          <p:cNvCxnSpPr/>
          <p:nvPr/>
        </p:nvCxnSpPr>
        <p:spPr>
          <a:xfrm>
            <a:off x="5562400" y="2551425"/>
            <a:ext cx="496800" cy="8100"/>
          </a:xfrm>
          <a:prstGeom prst="straightConnector1">
            <a:avLst/>
          </a:prstGeom>
          <a:noFill/>
          <a:ln cap="flat" cmpd="sng" w="19050">
            <a:solidFill>
              <a:schemeClr val="dk1"/>
            </a:solidFill>
            <a:prstDash val="solid"/>
            <a:round/>
            <a:headEnd len="med" w="med" type="none"/>
            <a:tailEnd len="med" w="med" type="triangle"/>
          </a:ln>
        </p:spPr>
      </p:cxnSp>
      <p:sp>
        <p:nvSpPr>
          <p:cNvPr id="187" name="Google Shape;187;p29"/>
          <p:cNvSpPr txBox="1"/>
          <p:nvPr/>
        </p:nvSpPr>
        <p:spPr>
          <a:xfrm>
            <a:off x="6219525" y="2110125"/>
            <a:ext cx="1338000" cy="9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rgbClr val="202124"/>
                </a:solidFill>
              </a:rPr>
              <a:t>selectively</a:t>
            </a:r>
            <a:endParaRPr sz="1800">
              <a:solidFill>
                <a:srgbClr val="202124"/>
              </a:solidFill>
            </a:endParaRPr>
          </a:p>
          <a:p>
            <a:pPr indent="0" lvl="0" marL="0" rtl="0" algn="l">
              <a:spcBef>
                <a:spcPts val="0"/>
              </a:spcBef>
              <a:spcAft>
                <a:spcPts val="0"/>
              </a:spcAft>
              <a:buNone/>
            </a:pPr>
            <a:r>
              <a:rPr lang="zh-CN" sz="1800">
                <a:solidFill>
                  <a:srgbClr val="202124"/>
                </a:solidFill>
              </a:rPr>
              <a:t>activated classifiers</a:t>
            </a:r>
            <a:endParaRPr sz="1800">
              <a:solidFill>
                <a:srgbClr val="20212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txBox="1"/>
          <p:nvPr>
            <p:ph type="title"/>
          </p:nvPr>
        </p:nvSpPr>
        <p:spPr>
          <a:xfrm>
            <a:off x="311700" y="445025"/>
            <a:ext cx="5771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Methods: Semantic Adaptive Activation</a:t>
            </a:r>
            <a:endParaRPr/>
          </a:p>
          <a:p>
            <a:pPr indent="0" lvl="0" marL="0" rtl="0" algn="l">
              <a:spcBef>
                <a:spcPts val="0"/>
              </a:spcBef>
              <a:spcAft>
                <a:spcPts val="0"/>
              </a:spcAft>
              <a:buNone/>
            </a:pPr>
            <a:r>
              <a:t/>
            </a:r>
            <a:endParaRPr/>
          </a:p>
        </p:txBody>
      </p:sp>
      <p:sp>
        <p:nvSpPr>
          <p:cNvPr id="193" name="Google Shape;193;p30"/>
          <p:cNvSpPr txBox="1"/>
          <p:nvPr/>
        </p:nvSpPr>
        <p:spPr>
          <a:xfrm>
            <a:off x="547450" y="2987975"/>
            <a:ext cx="1113600" cy="4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text input</a:t>
            </a:r>
            <a:endParaRPr sz="1800">
              <a:solidFill>
                <a:schemeClr val="dk1"/>
              </a:solidFill>
            </a:endParaRPr>
          </a:p>
        </p:txBody>
      </p:sp>
      <p:cxnSp>
        <p:nvCxnSpPr>
          <p:cNvPr id="194" name="Google Shape;194;p30"/>
          <p:cNvCxnSpPr>
            <a:stCxn id="193" idx="3"/>
            <a:endCxn id="195" idx="3"/>
          </p:cNvCxnSpPr>
          <p:nvPr/>
        </p:nvCxnSpPr>
        <p:spPr>
          <a:xfrm>
            <a:off x="1661050" y="3224375"/>
            <a:ext cx="957600" cy="2100"/>
          </a:xfrm>
          <a:prstGeom prst="straightConnector1">
            <a:avLst/>
          </a:prstGeom>
          <a:noFill/>
          <a:ln cap="flat" cmpd="sng" w="19050">
            <a:solidFill>
              <a:schemeClr val="dk1"/>
            </a:solidFill>
            <a:prstDash val="solid"/>
            <a:round/>
            <a:headEnd len="med" w="med" type="none"/>
            <a:tailEnd len="med" w="med" type="triangle"/>
          </a:ln>
        </p:spPr>
      </p:cxnSp>
      <p:sp>
        <p:nvSpPr>
          <p:cNvPr id="195" name="Google Shape;195;p30"/>
          <p:cNvSpPr txBox="1"/>
          <p:nvPr/>
        </p:nvSpPr>
        <p:spPr>
          <a:xfrm>
            <a:off x="1745200" y="2865725"/>
            <a:ext cx="873300" cy="72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CLIP</a:t>
            </a:r>
            <a:endParaRPr sz="1800">
              <a:solidFill>
                <a:schemeClr val="dk1"/>
              </a:solidFill>
            </a:endParaRPr>
          </a:p>
          <a:p>
            <a:pPr indent="0" lvl="0" marL="0" rtl="0" algn="l">
              <a:spcBef>
                <a:spcPts val="0"/>
              </a:spcBef>
              <a:spcAft>
                <a:spcPts val="0"/>
              </a:spcAft>
              <a:buNone/>
            </a:pPr>
            <a:r>
              <a:rPr lang="zh-CN" sz="1800">
                <a:solidFill>
                  <a:schemeClr val="dk1"/>
                </a:solidFill>
              </a:rPr>
              <a:t>+MLP</a:t>
            </a:r>
            <a:endParaRPr sz="1800">
              <a:solidFill>
                <a:schemeClr val="dk1"/>
              </a:solidFill>
            </a:endParaRPr>
          </a:p>
        </p:txBody>
      </p:sp>
      <p:sp>
        <p:nvSpPr>
          <p:cNvPr id="196" name="Google Shape;196;p30"/>
          <p:cNvSpPr txBox="1"/>
          <p:nvPr/>
        </p:nvSpPr>
        <p:spPr>
          <a:xfrm>
            <a:off x="783800" y="1704200"/>
            <a:ext cx="1113600" cy="4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KP item</a:t>
            </a:r>
            <a:endParaRPr sz="1800">
              <a:solidFill>
                <a:schemeClr val="dk1"/>
              </a:solidFill>
            </a:endParaRPr>
          </a:p>
        </p:txBody>
      </p:sp>
      <p:sp>
        <p:nvSpPr>
          <p:cNvPr id="197" name="Google Shape;197;p30"/>
          <p:cNvSpPr/>
          <p:nvPr/>
        </p:nvSpPr>
        <p:spPr>
          <a:xfrm>
            <a:off x="1965650" y="1872500"/>
            <a:ext cx="320400" cy="136200"/>
          </a:xfrm>
          <a:prstGeom prst="leftRightArrow">
            <a:avLst>
              <a:gd fmla="val 50000" name="adj1"/>
              <a:gd fmla="val 50000" name="adj2"/>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30"/>
          <p:cNvSpPr txBox="1"/>
          <p:nvPr/>
        </p:nvSpPr>
        <p:spPr>
          <a:xfrm>
            <a:off x="2507600" y="1556575"/>
            <a:ext cx="1395900" cy="72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CN" sz="1800">
                <a:solidFill>
                  <a:srgbClr val="FF0000"/>
                </a:solidFill>
              </a:rPr>
              <a:t>trainable embedding</a:t>
            </a:r>
            <a:endParaRPr sz="1800">
              <a:solidFill>
                <a:srgbClr val="FF0000"/>
              </a:solidFill>
            </a:endParaRPr>
          </a:p>
        </p:txBody>
      </p:sp>
      <p:sp>
        <p:nvSpPr>
          <p:cNvPr id="199" name="Google Shape;199;p30"/>
          <p:cNvSpPr txBox="1"/>
          <p:nvPr/>
        </p:nvSpPr>
        <p:spPr>
          <a:xfrm>
            <a:off x="2676775" y="2863775"/>
            <a:ext cx="1113600" cy="72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CN" sz="1800">
                <a:solidFill>
                  <a:schemeClr val="dk1"/>
                </a:solidFill>
              </a:rPr>
              <a:t>scenerio semantic</a:t>
            </a:r>
            <a:endParaRPr sz="1800">
              <a:solidFill>
                <a:schemeClr val="dk1"/>
              </a:solidFill>
            </a:endParaRPr>
          </a:p>
        </p:txBody>
      </p:sp>
      <p:sp>
        <p:nvSpPr>
          <p:cNvPr id="200" name="Google Shape;200;p30"/>
          <p:cNvSpPr/>
          <p:nvPr/>
        </p:nvSpPr>
        <p:spPr>
          <a:xfrm>
            <a:off x="3016400" y="2387175"/>
            <a:ext cx="378300" cy="3672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30"/>
          <p:cNvSpPr/>
          <p:nvPr/>
        </p:nvSpPr>
        <p:spPr>
          <a:xfrm>
            <a:off x="3714175" y="2431075"/>
            <a:ext cx="400500" cy="191700"/>
          </a:xfrm>
          <a:prstGeom prst="rightArrow">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30"/>
          <p:cNvSpPr txBox="1"/>
          <p:nvPr/>
        </p:nvSpPr>
        <p:spPr>
          <a:xfrm>
            <a:off x="3880938" y="2111275"/>
            <a:ext cx="18957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CN" sz="2100">
                <a:solidFill>
                  <a:srgbClr val="202124"/>
                </a:solidFill>
                <a:highlight>
                  <a:srgbClr val="FFFFFF"/>
                </a:highlight>
              </a:rPr>
              <a:t>similarity</a:t>
            </a:r>
            <a:endParaRPr sz="2100">
              <a:solidFill>
                <a:srgbClr val="202124"/>
              </a:solidFill>
              <a:highlight>
                <a:srgbClr val="FFFFFF"/>
              </a:highlight>
            </a:endParaRPr>
          </a:p>
          <a:p>
            <a:pPr indent="0" lvl="0" marL="0" rtl="0" algn="ctr">
              <a:spcBef>
                <a:spcPts val="0"/>
              </a:spcBef>
              <a:spcAft>
                <a:spcPts val="0"/>
              </a:spcAft>
              <a:buNone/>
            </a:pPr>
            <a:r>
              <a:rPr lang="zh-CN" sz="2100">
                <a:solidFill>
                  <a:srgbClr val="202124"/>
                </a:solidFill>
                <a:highlight>
                  <a:srgbClr val="FFFFFF"/>
                </a:highlight>
              </a:rPr>
              <a:t>rank</a:t>
            </a:r>
            <a:endParaRPr sz="2100">
              <a:solidFill>
                <a:srgbClr val="202124"/>
              </a:solidFill>
              <a:highlight>
                <a:srgbClr val="FFFFFF"/>
              </a:highlight>
            </a:endParaRPr>
          </a:p>
        </p:txBody>
      </p:sp>
      <p:sp>
        <p:nvSpPr>
          <p:cNvPr id="203" name="Google Shape;203;p30"/>
          <p:cNvSpPr txBox="1"/>
          <p:nvPr/>
        </p:nvSpPr>
        <p:spPr>
          <a:xfrm>
            <a:off x="5498325" y="2231325"/>
            <a:ext cx="721200" cy="2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top-k</a:t>
            </a:r>
            <a:endParaRPr>
              <a:solidFill>
                <a:schemeClr val="dk1"/>
              </a:solidFill>
            </a:endParaRPr>
          </a:p>
        </p:txBody>
      </p:sp>
      <p:cxnSp>
        <p:nvCxnSpPr>
          <p:cNvPr id="204" name="Google Shape;204;p30"/>
          <p:cNvCxnSpPr/>
          <p:nvPr/>
        </p:nvCxnSpPr>
        <p:spPr>
          <a:xfrm>
            <a:off x="5562400" y="2551425"/>
            <a:ext cx="496800" cy="8100"/>
          </a:xfrm>
          <a:prstGeom prst="straightConnector1">
            <a:avLst/>
          </a:prstGeom>
          <a:noFill/>
          <a:ln cap="flat" cmpd="sng" w="19050">
            <a:solidFill>
              <a:schemeClr val="dk1"/>
            </a:solidFill>
            <a:prstDash val="solid"/>
            <a:round/>
            <a:headEnd len="med" w="med" type="none"/>
            <a:tailEnd len="med" w="med" type="triangle"/>
          </a:ln>
        </p:spPr>
      </p:cxnSp>
      <p:sp>
        <p:nvSpPr>
          <p:cNvPr id="205" name="Google Shape;205;p30"/>
          <p:cNvSpPr txBox="1"/>
          <p:nvPr/>
        </p:nvSpPr>
        <p:spPr>
          <a:xfrm>
            <a:off x="6219525" y="2110125"/>
            <a:ext cx="1338000" cy="9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rgbClr val="202124"/>
                </a:solidFill>
              </a:rPr>
              <a:t>selectively</a:t>
            </a:r>
            <a:endParaRPr sz="1800">
              <a:solidFill>
                <a:srgbClr val="202124"/>
              </a:solidFill>
            </a:endParaRPr>
          </a:p>
          <a:p>
            <a:pPr indent="0" lvl="0" marL="0" rtl="0" algn="l">
              <a:spcBef>
                <a:spcPts val="0"/>
              </a:spcBef>
              <a:spcAft>
                <a:spcPts val="0"/>
              </a:spcAft>
              <a:buNone/>
            </a:pPr>
            <a:r>
              <a:rPr lang="zh-CN" sz="1800">
                <a:solidFill>
                  <a:srgbClr val="202124"/>
                </a:solidFill>
              </a:rPr>
              <a:t>activated classifiers</a:t>
            </a:r>
            <a:endParaRPr sz="1800">
              <a:solidFill>
                <a:srgbClr val="202124"/>
              </a:solidFill>
            </a:endParaRPr>
          </a:p>
        </p:txBody>
      </p:sp>
      <p:pic>
        <p:nvPicPr>
          <p:cNvPr id="206" name="Google Shape;206;p30"/>
          <p:cNvPicPr preferRelativeResize="0"/>
          <p:nvPr/>
        </p:nvPicPr>
        <p:blipFill>
          <a:blip r:embed="rId3">
            <a:alphaModFix/>
          </a:blip>
          <a:stretch>
            <a:fillRect/>
          </a:stretch>
        </p:blipFill>
        <p:spPr>
          <a:xfrm>
            <a:off x="2177824" y="3825976"/>
            <a:ext cx="4181625" cy="6452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Experiment Settings</a:t>
            </a:r>
            <a:endParaRPr/>
          </a:p>
        </p:txBody>
      </p:sp>
      <p:sp>
        <p:nvSpPr>
          <p:cNvPr id="212" name="Google Shape;212;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Dataset</a:t>
            </a:r>
            <a:endParaRPr/>
          </a:p>
          <a:p>
            <a:pPr indent="-317500" lvl="1" marL="914400" rtl="0" algn="l">
              <a:spcBef>
                <a:spcPts val="0"/>
              </a:spcBef>
              <a:spcAft>
                <a:spcPts val="0"/>
              </a:spcAft>
              <a:buSzPts val="1400"/>
              <a:buChar char="○"/>
            </a:pPr>
            <a:r>
              <a:rPr lang="zh-CN"/>
              <a:t>HumanML3D, </a:t>
            </a:r>
            <a:r>
              <a:rPr lang="zh-CN"/>
              <a:t>specially </a:t>
            </a:r>
            <a:r>
              <a:rPr lang="zh-CN"/>
              <a:t>processed to </a:t>
            </a:r>
            <a:r>
              <a:rPr lang="zh-CN"/>
              <a:t>change the representation of the root joint from relative to absolute</a:t>
            </a:r>
            <a:endParaRPr/>
          </a:p>
          <a:p>
            <a:pPr indent="-342900" lvl="0" marL="457200" rtl="0" algn="l">
              <a:spcBef>
                <a:spcPts val="0"/>
              </a:spcBef>
              <a:spcAft>
                <a:spcPts val="0"/>
              </a:spcAft>
              <a:buSzPts val="1800"/>
              <a:buChar char="●"/>
            </a:pPr>
            <a:r>
              <a:rPr lang="zh-CN"/>
              <a:t>Metric </a:t>
            </a:r>
            <a:endParaRPr/>
          </a:p>
          <a:p>
            <a:pPr indent="-317500" lvl="1" marL="914400" rtl="0" algn="l">
              <a:spcBef>
                <a:spcPts val="0"/>
              </a:spcBef>
              <a:spcAft>
                <a:spcPts val="0"/>
              </a:spcAft>
              <a:buSzPts val="1400"/>
              <a:buChar char="○"/>
            </a:pPr>
            <a:r>
              <a:rPr b="1" lang="zh-CN"/>
              <a:t>Frechet Inception Distance (FID)</a:t>
            </a:r>
            <a:r>
              <a:rPr lang="zh-CN"/>
              <a:t>, measures the distance between the distributions of ground truth and generated motion using a pretrained t2m encoder.</a:t>
            </a:r>
            <a:endParaRPr/>
          </a:p>
          <a:p>
            <a:pPr indent="-317500" lvl="1" marL="914400" rtl="0" algn="l">
              <a:spcBef>
                <a:spcPts val="0"/>
              </a:spcBef>
              <a:spcAft>
                <a:spcPts val="0"/>
              </a:spcAft>
              <a:buSzPts val="1400"/>
              <a:buChar char="○"/>
            </a:pPr>
            <a:r>
              <a:rPr b="1" lang="zh-CN"/>
              <a:t>R-Precision</a:t>
            </a:r>
            <a:r>
              <a:rPr lang="zh-CN"/>
              <a:t>, evaluates the relevance of the generated motion and its text prompt.</a:t>
            </a:r>
            <a:endParaRPr/>
          </a:p>
          <a:p>
            <a:pPr indent="-317500" lvl="1" marL="914400" rtl="0" algn="l">
              <a:spcBef>
                <a:spcPts val="0"/>
              </a:spcBef>
              <a:spcAft>
                <a:spcPts val="0"/>
              </a:spcAft>
              <a:buSzPts val="1400"/>
              <a:buChar char="○"/>
            </a:pPr>
            <a:r>
              <a:rPr b="1" lang="zh-CN"/>
              <a:t>Diversity</a:t>
            </a:r>
            <a:r>
              <a:rPr lang="zh-CN"/>
              <a:t>, measures the variability within the generated motion.</a:t>
            </a:r>
            <a:endParaRPr/>
          </a:p>
          <a:p>
            <a:pPr indent="-342900" lvl="0" marL="457200" rtl="0" algn="l">
              <a:spcBef>
                <a:spcPts val="0"/>
              </a:spcBef>
              <a:spcAft>
                <a:spcPts val="0"/>
              </a:spcAft>
              <a:buSzPts val="1800"/>
              <a:buChar char="●"/>
            </a:pPr>
            <a:r>
              <a:rPr lang="zh-CN"/>
              <a:t>Trainning </a:t>
            </a:r>
            <a:r>
              <a:rPr lang="zh-CN"/>
              <a:t>Resources</a:t>
            </a:r>
            <a:r>
              <a:rPr lang="zh-CN"/>
              <a:t> </a:t>
            </a:r>
            <a:endParaRPr/>
          </a:p>
          <a:p>
            <a:pPr indent="-317500" lvl="1" marL="914400" rtl="0" algn="l">
              <a:spcBef>
                <a:spcPts val="0"/>
              </a:spcBef>
              <a:spcAft>
                <a:spcPts val="0"/>
              </a:spcAft>
              <a:buSzPts val="1400"/>
              <a:buChar char="○"/>
            </a:pPr>
            <a:r>
              <a:rPr lang="zh-CN"/>
              <a:t>Trainning and evaluating on a single RTX 3080 Ti GPU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Experiment Settings</a:t>
            </a:r>
            <a:endParaRPr/>
          </a:p>
        </p:txBody>
      </p:sp>
      <p:sp>
        <p:nvSpPr>
          <p:cNvPr id="218" name="Google Shape;218;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Task: single-stage text to motion generation</a:t>
            </a:r>
            <a:endParaRPr/>
          </a:p>
          <a:p>
            <a:pPr indent="-317500" lvl="1" marL="914400" rtl="0" algn="l">
              <a:spcBef>
                <a:spcPts val="0"/>
              </a:spcBef>
              <a:spcAft>
                <a:spcPts val="0"/>
              </a:spcAft>
              <a:buSzPts val="1400"/>
              <a:buChar char="○"/>
            </a:pPr>
            <a:r>
              <a:rPr lang="zh-CN"/>
              <a:t>single-stage: text -&gt; motion conditioned on text</a:t>
            </a:r>
            <a:endParaRPr/>
          </a:p>
          <a:p>
            <a:pPr indent="-317500" lvl="1" marL="914400" rtl="0" algn="l">
              <a:spcBef>
                <a:spcPts val="0"/>
              </a:spcBef>
              <a:spcAft>
                <a:spcPts val="0"/>
              </a:spcAft>
              <a:buSzPts val="1400"/>
              <a:buChar char="○"/>
            </a:pPr>
            <a:r>
              <a:rPr lang="zh-CN"/>
              <a:t>two-stages: text -&gt; trajectory -&gt; motion conditioned on that trajectory</a:t>
            </a:r>
            <a:endParaRPr/>
          </a:p>
          <a:p>
            <a:pPr indent="-342900" lvl="0" marL="457200" rtl="0" algn="l">
              <a:spcBef>
                <a:spcPts val="0"/>
              </a:spcBef>
              <a:spcAft>
                <a:spcPts val="0"/>
              </a:spcAft>
              <a:buSzPts val="1800"/>
              <a:buChar char="●"/>
            </a:pPr>
            <a:r>
              <a:rPr lang="zh-CN"/>
              <a:t>Our experiment majorly explored two </a:t>
            </a:r>
            <a:r>
              <a:rPr lang="zh-CN"/>
              <a:t>approaches</a:t>
            </a:r>
            <a:endParaRPr/>
          </a:p>
          <a:p>
            <a:pPr indent="-317500" lvl="1" marL="914400" rtl="0" algn="l">
              <a:spcBef>
                <a:spcPts val="0"/>
              </a:spcBef>
              <a:spcAft>
                <a:spcPts val="0"/>
              </a:spcAft>
              <a:buSzPts val="1400"/>
              <a:buChar char="○"/>
            </a:pPr>
            <a:r>
              <a:rPr lang="zh-CN"/>
              <a:t>Approach I: non-trainable, directly employ </a:t>
            </a:r>
            <a:r>
              <a:rPr i="1" lang="zh-CN"/>
              <a:t>KPG_prompts</a:t>
            </a:r>
            <a:r>
              <a:rPr lang="zh-CN"/>
              <a:t>, CLIP w/o MLP </a:t>
            </a:r>
            <a:endParaRPr/>
          </a:p>
          <a:p>
            <a:pPr indent="-317500" lvl="1" marL="914400" rtl="0" algn="l">
              <a:spcBef>
                <a:spcPts val="0"/>
              </a:spcBef>
              <a:spcAft>
                <a:spcPts val="0"/>
              </a:spcAft>
              <a:buSzPts val="1400"/>
              <a:buChar char="○"/>
            </a:pPr>
            <a:r>
              <a:rPr lang="zh-CN"/>
              <a:t>Approach II: trainable, learned embeddings, CLIP w/ MLP</a:t>
            </a:r>
            <a:endParaRPr/>
          </a:p>
        </p:txBody>
      </p:sp>
      <p:pic>
        <p:nvPicPr>
          <p:cNvPr id="219" name="Google Shape;219;p32"/>
          <p:cNvPicPr preferRelativeResize="0"/>
          <p:nvPr/>
        </p:nvPicPr>
        <p:blipFill>
          <a:blip r:embed="rId3">
            <a:alphaModFix/>
          </a:blip>
          <a:stretch>
            <a:fillRect/>
          </a:stretch>
        </p:blipFill>
        <p:spPr>
          <a:xfrm>
            <a:off x="4837251" y="3044375"/>
            <a:ext cx="3802900" cy="1805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Approach I: Non-trainable </a:t>
            </a:r>
            <a:endParaRPr/>
          </a:p>
        </p:txBody>
      </p:sp>
      <p:sp>
        <p:nvSpPr>
          <p:cNvPr id="225" name="Google Shape;225;p33"/>
          <p:cNvSpPr txBox="1"/>
          <p:nvPr>
            <p:ph idx="1" type="body"/>
          </p:nvPr>
        </p:nvSpPr>
        <p:spPr>
          <a:xfrm>
            <a:off x="438575" y="1017725"/>
            <a:ext cx="7959300" cy="177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Examples of </a:t>
            </a:r>
            <a:r>
              <a:rPr i="1" lang="zh-CN"/>
              <a:t>KPG_prompts</a:t>
            </a:r>
            <a:r>
              <a:rPr lang="zh-CN"/>
              <a:t> (rich in semantic context)</a:t>
            </a:r>
            <a:endParaRPr/>
          </a:p>
          <a:p>
            <a:pPr indent="-317500" lvl="1" marL="914400" rtl="0" algn="l">
              <a:spcBef>
                <a:spcPts val="0"/>
              </a:spcBef>
              <a:spcAft>
                <a:spcPts val="0"/>
              </a:spcAft>
              <a:buSzPts val="1400"/>
              <a:buChar char="○"/>
            </a:pPr>
            <a:r>
              <a:rPr lang="zh-CN"/>
              <a:t>the person moves forwards</a:t>
            </a:r>
            <a:endParaRPr/>
          </a:p>
          <a:p>
            <a:pPr indent="-317500" lvl="1" marL="914400" rtl="0" algn="l">
              <a:spcBef>
                <a:spcPts val="0"/>
              </a:spcBef>
              <a:spcAft>
                <a:spcPts val="0"/>
              </a:spcAft>
              <a:buSzPts val="1400"/>
              <a:buChar char="○"/>
            </a:pPr>
            <a:r>
              <a:rPr lang="zh-CN"/>
              <a:t>left wrist moves towards right knee</a:t>
            </a:r>
            <a:endParaRPr/>
          </a:p>
          <a:p>
            <a:pPr indent="-317500" lvl="1" marL="914400" rtl="0" algn="l">
              <a:spcBef>
                <a:spcPts val="0"/>
              </a:spcBef>
              <a:spcAft>
                <a:spcPts val="0"/>
              </a:spcAft>
              <a:buSzPts val="1400"/>
              <a:buChar char="○"/>
            </a:pPr>
            <a:r>
              <a:rPr lang="zh-CN"/>
              <a:t>left wrist is below right knee, then above right knee</a:t>
            </a:r>
            <a:endParaRPr/>
          </a:p>
          <a:p>
            <a:pPr indent="-317500" lvl="1" marL="914400" rtl="0" algn="l">
              <a:spcBef>
                <a:spcPts val="0"/>
              </a:spcBef>
              <a:spcAft>
                <a:spcPts val="0"/>
              </a:spcAft>
              <a:buSzPts val="1400"/>
              <a:buChar char="○"/>
            </a:pPr>
            <a:r>
              <a:rPr lang="zh-CN"/>
              <a:t>left arm unbends</a:t>
            </a:r>
            <a:endParaRPr/>
          </a:p>
          <a:p>
            <a:pPr indent="-342900" lvl="0" marL="457200" rtl="0" algn="l">
              <a:spcBef>
                <a:spcPts val="0"/>
              </a:spcBef>
              <a:spcAft>
                <a:spcPts val="0"/>
              </a:spcAft>
              <a:buSzPts val="1800"/>
              <a:buChar char="●"/>
            </a:pPr>
            <a:r>
              <a:rPr lang="zh-CN"/>
              <a:t>Pipeline</a:t>
            </a:r>
            <a:endParaRPr/>
          </a:p>
        </p:txBody>
      </p:sp>
      <p:sp>
        <p:nvSpPr>
          <p:cNvPr id="226" name="Google Shape;226;p33"/>
          <p:cNvSpPr txBox="1"/>
          <p:nvPr/>
        </p:nvSpPr>
        <p:spPr>
          <a:xfrm>
            <a:off x="954900" y="4301175"/>
            <a:ext cx="1582200" cy="497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zh-CN" sz="1800">
                <a:solidFill>
                  <a:schemeClr val="dk1"/>
                </a:solidFill>
              </a:rPr>
              <a:t>text input</a:t>
            </a:r>
            <a:endParaRPr sz="1800">
              <a:solidFill>
                <a:schemeClr val="dk1"/>
              </a:solidFill>
            </a:endParaRPr>
          </a:p>
        </p:txBody>
      </p:sp>
      <p:cxnSp>
        <p:nvCxnSpPr>
          <p:cNvPr id="227" name="Google Shape;227;p33"/>
          <p:cNvCxnSpPr>
            <a:stCxn id="226" idx="3"/>
            <a:endCxn id="228" idx="3"/>
          </p:cNvCxnSpPr>
          <p:nvPr/>
        </p:nvCxnSpPr>
        <p:spPr>
          <a:xfrm>
            <a:off x="2537100" y="4549725"/>
            <a:ext cx="936300" cy="2100"/>
          </a:xfrm>
          <a:prstGeom prst="straightConnector1">
            <a:avLst/>
          </a:prstGeom>
          <a:noFill/>
          <a:ln cap="flat" cmpd="sng" w="19050">
            <a:solidFill>
              <a:schemeClr val="dk1"/>
            </a:solidFill>
            <a:prstDash val="solid"/>
            <a:round/>
            <a:headEnd len="med" w="med" type="none"/>
            <a:tailEnd len="med" w="med" type="triangle"/>
          </a:ln>
        </p:spPr>
      </p:cxnSp>
      <p:sp>
        <p:nvSpPr>
          <p:cNvPr id="228" name="Google Shape;228;p33"/>
          <p:cNvSpPr txBox="1"/>
          <p:nvPr/>
        </p:nvSpPr>
        <p:spPr>
          <a:xfrm>
            <a:off x="2619600" y="4172600"/>
            <a:ext cx="853800" cy="7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CLIP</a:t>
            </a:r>
            <a:endParaRPr sz="1800">
              <a:solidFill>
                <a:schemeClr val="dk1"/>
              </a:solidFill>
            </a:endParaRPr>
          </a:p>
        </p:txBody>
      </p:sp>
      <p:sp>
        <p:nvSpPr>
          <p:cNvPr id="229" name="Google Shape;229;p33"/>
          <p:cNvSpPr txBox="1"/>
          <p:nvPr/>
        </p:nvSpPr>
        <p:spPr>
          <a:xfrm>
            <a:off x="1192626" y="2950800"/>
            <a:ext cx="1497000" cy="4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KPG prompt</a:t>
            </a:r>
            <a:endParaRPr sz="1800">
              <a:solidFill>
                <a:schemeClr val="dk1"/>
              </a:solidFill>
            </a:endParaRPr>
          </a:p>
        </p:txBody>
      </p:sp>
      <p:sp>
        <p:nvSpPr>
          <p:cNvPr id="230" name="Google Shape;230;p33"/>
          <p:cNvSpPr txBox="1"/>
          <p:nvPr/>
        </p:nvSpPr>
        <p:spPr>
          <a:xfrm>
            <a:off x="3365050" y="2795525"/>
            <a:ext cx="1582200" cy="75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CN" sz="1800">
                <a:solidFill>
                  <a:schemeClr val="dk1"/>
                </a:solidFill>
              </a:rPr>
              <a:t>non-</a:t>
            </a:r>
            <a:r>
              <a:rPr lang="zh-CN" sz="1800">
                <a:solidFill>
                  <a:schemeClr val="dk1"/>
                </a:solidFill>
              </a:rPr>
              <a:t>trainable embedding</a:t>
            </a:r>
            <a:endParaRPr sz="1800">
              <a:solidFill>
                <a:schemeClr val="dk1"/>
              </a:solidFill>
            </a:endParaRPr>
          </a:p>
        </p:txBody>
      </p:sp>
      <p:sp>
        <p:nvSpPr>
          <p:cNvPr id="231" name="Google Shape;231;p33"/>
          <p:cNvSpPr txBox="1"/>
          <p:nvPr/>
        </p:nvSpPr>
        <p:spPr>
          <a:xfrm>
            <a:off x="3530449" y="4170550"/>
            <a:ext cx="1308300" cy="75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CN" sz="1800">
                <a:solidFill>
                  <a:schemeClr val="dk1"/>
                </a:solidFill>
              </a:rPr>
              <a:t>scenerio semantic</a:t>
            </a:r>
            <a:endParaRPr sz="1800">
              <a:solidFill>
                <a:schemeClr val="dk1"/>
              </a:solidFill>
            </a:endParaRPr>
          </a:p>
        </p:txBody>
      </p:sp>
      <p:sp>
        <p:nvSpPr>
          <p:cNvPr id="232" name="Google Shape;232;p33"/>
          <p:cNvSpPr/>
          <p:nvPr/>
        </p:nvSpPr>
        <p:spPr>
          <a:xfrm>
            <a:off x="3862529" y="3669215"/>
            <a:ext cx="369900" cy="3861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33"/>
          <p:cNvSpPr/>
          <p:nvPr/>
        </p:nvSpPr>
        <p:spPr>
          <a:xfrm>
            <a:off x="4544783" y="3715392"/>
            <a:ext cx="391500" cy="201600"/>
          </a:xfrm>
          <a:prstGeom prst="rightArrow">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33"/>
          <p:cNvSpPr txBox="1"/>
          <p:nvPr/>
        </p:nvSpPr>
        <p:spPr>
          <a:xfrm>
            <a:off x="4707836" y="3379002"/>
            <a:ext cx="1853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CN" sz="2100">
                <a:solidFill>
                  <a:srgbClr val="202124"/>
                </a:solidFill>
                <a:highlight>
                  <a:srgbClr val="FFFFFF"/>
                </a:highlight>
              </a:rPr>
              <a:t>similarity</a:t>
            </a:r>
            <a:endParaRPr sz="2100">
              <a:solidFill>
                <a:srgbClr val="202124"/>
              </a:solidFill>
              <a:highlight>
                <a:srgbClr val="FFFFFF"/>
              </a:highlight>
            </a:endParaRPr>
          </a:p>
          <a:p>
            <a:pPr indent="0" lvl="0" marL="0" rtl="0" algn="ctr">
              <a:spcBef>
                <a:spcPts val="0"/>
              </a:spcBef>
              <a:spcAft>
                <a:spcPts val="0"/>
              </a:spcAft>
              <a:buNone/>
            </a:pPr>
            <a:r>
              <a:rPr lang="zh-CN" sz="2100">
                <a:solidFill>
                  <a:srgbClr val="202124"/>
                </a:solidFill>
                <a:highlight>
                  <a:srgbClr val="FFFFFF"/>
                </a:highlight>
              </a:rPr>
              <a:t>rank</a:t>
            </a:r>
            <a:endParaRPr sz="2100">
              <a:solidFill>
                <a:srgbClr val="202124"/>
              </a:solidFill>
              <a:highlight>
                <a:srgbClr val="FFFFFF"/>
              </a:highlight>
            </a:endParaRPr>
          </a:p>
        </p:txBody>
      </p:sp>
      <p:sp>
        <p:nvSpPr>
          <p:cNvPr id="235" name="Google Shape;235;p33"/>
          <p:cNvSpPr txBox="1"/>
          <p:nvPr/>
        </p:nvSpPr>
        <p:spPr>
          <a:xfrm>
            <a:off x="6289245" y="3505279"/>
            <a:ext cx="705300" cy="24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top-k</a:t>
            </a:r>
            <a:endParaRPr>
              <a:solidFill>
                <a:schemeClr val="dk1"/>
              </a:solidFill>
            </a:endParaRPr>
          </a:p>
        </p:txBody>
      </p:sp>
      <p:cxnSp>
        <p:nvCxnSpPr>
          <p:cNvPr id="236" name="Google Shape;236;p33"/>
          <p:cNvCxnSpPr/>
          <p:nvPr/>
        </p:nvCxnSpPr>
        <p:spPr>
          <a:xfrm>
            <a:off x="6351895" y="3841985"/>
            <a:ext cx="485700" cy="8400"/>
          </a:xfrm>
          <a:prstGeom prst="straightConnector1">
            <a:avLst/>
          </a:prstGeom>
          <a:noFill/>
          <a:ln cap="flat" cmpd="sng" w="19050">
            <a:solidFill>
              <a:schemeClr val="dk1"/>
            </a:solidFill>
            <a:prstDash val="solid"/>
            <a:round/>
            <a:headEnd len="med" w="med" type="none"/>
            <a:tailEnd len="med" w="med" type="triangle"/>
          </a:ln>
        </p:spPr>
      </p:cxnSp>
      <p:sp>
        <p:nvSpPr>
          <p:cNvPr id="237" name="Google Shape;237;p33"/>
          <p:cNvSpPr txBox="1"/>
          <p:nvPr/>
        </p:nvSpPr>
        <p:spPr>
          <a:xfrm>
            <a:off x="6994402" y="3377792"/>
            <a:ext cx="1308300" cy="9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rgbClr val="202124"/>
                </a:solidFill>
              </a:rPr>
              <a:t>selectively</a:t>
            </a:r>
            <a:endParaRPr sz="1800">
              <a:solidFill>
                <a:srgbClr val="202124"/>
              </a:solidFill>
            </a:endParaRPr>
          </a:p>
          <a:p>
            <a:pPr indent="0" lvl="0" marL="0" rtl="0" algn="l">
              <a:spcBef>
                <a:spcPts val="0"/>
              </a:spcBef>
              <a:spcAft>
                <a:spcPts val="0"/>
              </a:spcAft>
              <a:buNone/>
            </a:pPr>
            <a:r>
              <a:rPr lang="zh-CN" sz="1800">
                <a:solidFill>
                  <a:srgbClr val="202124"/>
                </a:solidFill>
              </a:rPr>
              <a:t>activated classifiers</a:t>
            </a:r>
            <a:endParaRPr sz="1800">
              <a:solidFill>
                <a:srgbClr val="202124"/>
              </a:solidFill>
            </a:endParaRPr>
          </a:p>
        </p:txBody>
      </p:sp>
      <p:sp>
        <p:nvSpPr>
          <p:cNvPr id="238" name="Google Shape;238;p33"/>
          <p:cNvSpPr txBox="1"/>
          <p:nvPr/>
        </p:nvSpPr>
        <p:spPr>
          <a:xfrm>
            <a:off x="2583100" y="2795521"/>
            <a:ext cx="8538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1"/>
                </a:solidFill>
              </a:rPr>
              <a:t>CLIP</a:t>
            </a:r>
            <a:endParaRPr sz="1800">
              <a:solidFill>
                <a:schemeClr val="dk1"/>
              </a:solidFill>
            </a:endParaRPr>
          </a:p>
        </p:txBody>
      </p:sp>
      <p:cxnSp>
        <p:nvCxnSpPr>
          <p:cNvPr id="239" name="Google Shape;239;p33"/>
          <p:cNvCxnSpPr>
            <a:endCxn id="230" idx="1"/>
          </p:cNvCxnSpPr>
          <p:nvPr/>
        </p:nvCxnSpPr>
        <p:spPr>
          <a:xfrm flipH="1" rot="10800000">
            <a:off x="2654650" y="3174725"/>
            <a:ext cx="710400" cy="15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Observation</a:t>
            </a:r>
            <a:endParaRPr/>
          </a:p>
        </p:txBody>
      </p:sp>
      <p:sp>
        <p:nvSpPr>
          <p:cNvPr id="245" name="Google Shape;245;p34"/>
          <p:cNvSpPr txBox="1"/>
          <p:nvPr>
            <p:ph idx="1" type="body"/>
          </p:nvPr>
        </p:nvSpPr>
        <p:spPr>
          <a:xfrm>
            <a:off x="311700" y="1152475"/>
            <a:ext cx="8520600" cy="3522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Text embedding is concentrated.</a:t>
            </a:r>
            <a:endParaRPr/>
          </a:p>
          <a:p>
            <a:pPr indent="-317500" lvl="1" marL="914400" rtl="0" algn="l">
              <a:spcBef>
                <a:spcPts val="0"/>
              </a:spcBef>
              <a:spcAft>
                <a:spcPts val="0"/>
              </a:spcAft>
              <a:buSzPts val="1400"/>
              <a:buChar char="○"/>
            </a:pPr>
            <a:r>
              <a:rPr lang="zh-CN"/>
              <a:t>e.g. for prompt “a man walks backwards”</a:t>
            </a:r>
            <a:endParaRPr/>
          </a:p>
        </p:txBody>
      </p:sp>
      <p:graphicFrame>
        <p:nvGraphicFramePr>
          <p:cNvPr id="246" name="Google Shape;246;p34"/>
          <p:cNvGraphicFramePr/>
          <p:nvPr/>
        </p:nvGraphicFramePr>
        <p:xfrm>
          <a:off x="952500" y="1901975"/>
          <a:ext cx="3000000" cy="3000000"/>
        </p:xfrm>
        <a:graphic>
          <a:graphicData uri="http://schemas.openxmlformats.org/drawingml/2006/table">
            <a:tbl>
              <a:tblPr>
                <a:noFill/>
                <a:tableStyleId>{A2A2B406-B3A0-463F-944D-07D615EE5F6A}</a:tableStyleId>
              </a:tblPr>
              <a:tblGrid>
                <a:gridCol w="3619500"/>
                <a:gridCol w="3619500"/>
              </a:tblGrid>
              <a:tr h="381000">
                <a:tc>
                  <a:txBody>
                    <a:bodyPr/>
                    <a:lstStyle/>
                    <a:p>
                      <a:pPr indent="0" lvl="0" marL="0" rtl="0" algn="ctr">
                        <a:spcBef>
                          <a:spcPts val="0"/>
                        </a:spcBef>
                        <a:spcAft>
                          <a:spcPts val="0"/>
                        </a:spcAft>
                        <a:buNone/>
                      </a:pPr>
                      <a:r>
                        <a:rPr b="1" lang="zh-CN"/>
                        <a:t>KPG prompt</a:t>
                      </a:r>
                      <a:endParaRPr b="1"/>
                    </a:p>
                  </a:txBody>
                  <a:tcPr marT="91425" marB="91425" marR="91425" marL="91425"/>
                </a:tc>
                <a:tc>
                  <a:txBody>
                    <a:bodyPr/>
                    <a:lstStyle/>
                    <a:p>
                      <a:pPr indent="0" lvl="0" marL="0" rtl="0" algn="ctr">
                        <a:spcBef>
                          <a:spcPts val="0"/>
                        </a:spcBef>
                        <a:spcAft>
                          <a:spcPts val="0"/>
                        </a:spcAft>
                        <a:buNone/>
                      </a:pPr>
                      <a:r>
                        <a:rPr b="1" lang="zh-CN"/>
                        <a:t>cosine similarity</a:t>
                      </a:r>
                      <a:endParaRPr b="1"/>
                    </a:p>
                  </a:txBody>
                  <a:tcPr marT="91425" marB="91425" marR="91425" marL="91425"/>
                </a:tc>
              </a:tr>
              <a:tr h="381000">
                <a:tc>
                  <a:txBody>
                    <a:bodyPr/>
                    <a:lstStyle/>
                    <a:p>
                      <a:pPr indent="0" lvl="0" marL="0" rtl="0" algn="ctr">
                        <a:spcBef>
                          <a:spcPts val="0"/>
                        </a:spcBef>
                        <a:spcAft>
                          <a:spcPts val="0"/>
                        </a:spcAft>
                        <a:buNone/>
                      </a:pPr>
                      <a:r>
                        <a:rPr lang="zh-CN"/>
                        <a:t>left hand moves forwards</a:t>
                      </a:r>
                      <a:endParaRPr/>
                    </a:p>
                  </a:txBody>
                  <a:tcPr marT="91425" marB="91425" marR="91425" marL="91425"/>
                </a:tc>
                <a:tc>
                  <a:txBody>
                    <a:bodyPr/>
                    <a:lstStyle/>
                    <a:p>
                      <a:pPr indent="0" lvl="0" marL="0" rtl="0" algn="ctr">
                        <a:spcBef>
                          <a:spcPts val="0"/>
                        </a:spcBef>
                        <a:spcAft>
                          <a:spcPts val="0"/>
                        </a:spcAft>
                        <a:buNone/>
                      </a:pPr>
                      <a:r>
                        <a:rPr lang="zh-CN"/>
                        <a:t>0.9189453125</a:t>
                      </a:r>
                      <a:endParaRPr/>
                    </a:p>
                  </a:txBody>
                  <a:tcPr marT="91425" marB="91425" marR="91425" marL="91425"/>
                </a:tc>
              </a:tr>
              <a:tr h="381000">
                <a:tc>
                  <a:txBody>
                    <a:bodyPr/>
                    <a:lstStyle/>
                    <a:p>
                      <a:pPr indent="0" lvl="0" marL="0" rtl="0" algn="ctr">
                        <a:spcBef>
                          <a:spcPts val="0"/>
                        </a:spcBef>
                        <a:spcAft>
                          <a:spcPts val="0"/>
                        </a:spcAft>
                        <a:buNone/>
                      </a:pPr>
                      <a:r>
                        <a:rPr lang="zh-CN"/>
                        <a:t>left hand is below head then above head</a:t>
                      </a:r>
                      <a:endParaRPr/>
                    </a:p>
                  </a:txBody>
                  <a:tcPr marT="91425" marB="91425" marR="91425" marL="91425"/>
                </a:tc>
                <a:tc>
                  <a:txBody>
                    <a:bodyPr/>
                    <a:lstStyle/>
                    <a:p>
                      <a:pPr indent="0" lvl="0" marL="0" rtl="0" algn="ctr">
                        <a:spcBef>
                          <a:spcPts val="0"/>
                        </a:spcBef>
                        <a:spcAft>
                          <a:spcPts val="0"/>
                        </a:spcAft>
                        <a:buNone/>
                      </a:pPr>
                      <a:r>
                        <a:rPr lang="zh-CN"/>
                        <a:t>0.890380859375</a:t>
                      </a:r>
                      <a:endParaRPr/>
                    </a:p>
                  </a:txBody>
                  <a:tcPr marT="91425" marB="91425" marR="91425" marL="91425"/>
                </a:tc>
              </a:tr>
              <a:tr h="381000">
                <a:tc>
                  <a:txBody>
                    <a:bodyPr/>
                    <a:lstStyle/>
                    <a:p>
                      <a:pPr indent="0" lvl="0" marL="0" rtl="0" algn="ctr">
                        <a:spcBef>
                          <a:spcPts val="0"/>
                        </a:spcBef>
                        <a:spcAft>
                          <a:spcPts val="0"/>
                        </a:spcAft>
                        <a:buNone/>
                      </a:pPr>
                      <a:r>
                        <a:rPr lang="zh-CN"/>
                        <a:t>left hand moves away from head</a:t>
                      </a:r>
                      <a:endParaRPr/>
                    </a:p>
                  </a:txBody>
                  <a:tcPr marT="91425" marB="91425" marR="91425" marL="91425"/>
                </a:tc>
                <a:tc>
                  <a:txBody>
                    <a:bodyPr/>
                    <a:lstStyle/>
                    <a:p>
                      <a:pPr indent="0" lvl="0" marL="0" rtl="0" algn="ctr">
                        <a:spcBef>
                          <a:spcPts val="0"/>
                        </a:spcBef>
                        <a:spcAft>
                          <a:spcPts val="0"/>
                        </a:spcAft>
                        <a:buNone/>
                      </a:pPr>
                      <a:r>
                        <a:rPr lang="zh-CN"/>
                        <a:t> 0.89892578125</a:t>
                      </a:r>
                      <a:endParaRPr/>
                    </a:p>
                  </a:txBody>
                  <a:tcPr marT="91425" marB="91425" marR="91425" marL="91425"/>
                </a:tc>
              </a:tr>
              <a:tr h="381000">
                <a:tc>
                  <a:txBody>
                    <a:bodyPr/>
                    <a:lstStyle/>
                    <a:p>
                      <a:pPr indent="0" lvl="0" marL="0" rtl="0" algn="ctr">
                        <a:spcBef>
                          <a:spcPts val="0"/>
                        </a:spcBef>
                        <a:spcAft>
                          <a:spcPts val="0"/>
                        </a:spcAft>
                        <a:buNone/>
                      </a:pPr>
                      <a:r>
                        <a:rPr lang="zh-CN"/>
                        <a:t>left arm bends</a:t>
                      </a:r>
                      <a:endParaRPr/>
                    </a:p>
                  </a:txBody>
                  <a:tcPr marT="91425" marB="91425" marR="91425" marL="91425"/>
                </a:tc>
                <a:tc>
                  <a:txBody>
                    <a:bodyPr/>
                    <a:lstStyle/>
                    <a:p>
                      <a:pPr indent="0" lvl="0" marL="0" rtl="0" algn="ctr">
                        <a:spcBef>
                          <a:spcPts val="0"/>
                        </a:spcBef>
                        <a:spcAft>
                          <a:spcPts val="0"/>
                        </a:spcAft>
                        <a:buNone/>
                      </a:pPr>
                      <a:r>
                        <a:rPr lang="zh-CN"/>
                        <a:t>0.9033203125</a:t>
                      </a:r>
                      <a:endParaRPr/>
                    </a:p>
                  </a:txBody>
                  <a:tcPr marT="91425" marB="91425" marR="91425" marL="91425"/>
                </a:tc>
              </a:tr>
              <a:tr h="381000">
                <a:tc>
                  <a:txBody>
                    <a:bodyPr/>
                    <a:lstStyle/>
                    <a:p>
                      <a:pPr indent="0" lvl="0" marL="0" rtl="0" algn="ctr">
                        <a:spcBef>
                          <a:spcPts val="0"/>
                        </a:spcBef>
                        <a:spcAft>
                          <a:spcPts val="0"/>
                        </a:spcAft>
                        <a:buNone/>
                      </a:pPr>
                      <a:r>
                        <a:rPr lang="zh-CN"/>
                        <a:t>the person moves forwards</a:t>
                      </a:r>
                      <a:endParaRPr/>
                    </a:p>
                  </a:txBody>
                  <a:tcPr marT="91425" marB="91425" marR="91425" marL="91425"/>
                </a:tc>
                <a:tc>
                  <a:txBody>
                    <a:bodyPr/>
                    <a:lstStyle/>
                    <a:p>
                      <a:pPr indent="0" lvl="0" marL="0" rtl="0" algn="ctr">
                        <a:spcBef>
                          <a:spcPts val="0"/>
                        </a:spcBef>
                        <a:spcAft>
                          <a:spcPts val="0"/>
                        </a:spcAft>
                        <a:buNone/>
                      </a:pPr>
                      <a:r>
                        <a:rPr lang="zh-CN"/>
                        <a:t>0.92041015625</a:t>
                      </a:r>
                      <a:endParaRPr/>
                    </a:p>
                  </a:txBody>
                  <a:tcPr marT="91425" marB="91425" marR="91425" marL="91425"/>
                </a:tc>
              </a:tr>
              <a:tr h="381000">
                <a:tc>
                  <a:txBody>
                    <a:bodyPr/>
                    <a:lstStyle/>
                    <a:p>
                      <a:pPr indent="0" lvl="0" marL="0" rtl="0" algn="ctr">
                        <a:spcBef>
                          <a:spcPts val="0"/>
                        </a:spcBef>
                        <a:spcAft>
                          <a:spcPts val="0"/>
                        </a:spcAft>
                        <a:buNone/>
                      </a:pPr>
                      <a:r>
                        <a:rPr lang="zh-CN"/>
                        <a:t>the person moves backwards</a:t>
                      </a:r>
                      <a:endParaRPr/>
                    </a:p>
                  </a:txBody>
                  <a:tcPr marT="91425" marB="91425" marR="91425" marL="91425"/>
                </a:tc>
                <a:tc>
                  <a:txBody>
                    <a:bodyPr/>
                    <a:lstStyle/>
                    <a:p>
                      <a:pPr indent="0" lvl="0" marL="0" rtl="0" algn="ctr">
                        <a:spcBef>
                          <a:spcPts val="0"/>
                        </a:spcBef>
                        <a:spcAft>
                          <a:spcPts val="0"/>
                        </a:spcAft>
                        <a:buNone/>
                      </a:pPr>
                      <a:r>
                        <a:rPr lang="zh-CN"/>
                        <a:t>0.9306640625</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Approach II: trainable</a:t>
            </a:r>
            <a:endParaRPr/>
          </a:p>
        </p:txBody>
      </p:sp>
      <p:sp>
        <p:nvSpPr>
          <p:cNvPr id="252" name="Google Shape;252;p35"/>
          <p:cNvSpPr txBox="1"/>
          <p:nvPr>
            <p:ph idx="1" type="body"/>
          </p:nvPr>
        </p:nvSpPr>
        <p:spPr>
          <a:xfrm>
            <a:off x="311700" y="1152475"/>
            <a:ext cx="4488000" cy="1965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Implementation Details</a:t>
            </a:r>
            <a:endParaRPr/>
          </a:p>
          <a:p>
            <a:pPr indent="-317500" lvl="1" marL="914400" rtl="0" algn="l">
              <a:spcBef>
                <a:spcPts val="0"/>
              </a:spcBef>
              <a:spcAft>
                <a:spcPts val="0"/>
              </a:spcAft>
              <a:buSzPts val="1400"/>
              <a:buChar char="○"/>
            </a:pPr>
            <a:r>
              <a:rPr lang="zh-CN"/>
              <a:t>each embedding is a tensor of size 512</a:t>
            </a:r>
            <a:endParaRPr/>
          </a:p>
          <a:p>
            <a:pPr indent="-317500" lvl="1" marL="914400" rtl="0" algn="l">
              <a:spcBef>
                <a:spcPts val="0"/>
              </a:spcBef>
              <a:spcAft>
                <a:spcPts val="0"/>
              </a:spcAft>
              <a:buSzPts val="1400"/>
              <a:buChar char="○"/>
            </a:pPr>
            <a:r>
              <a:rPr lang="zh-CN"/>
              <a:t>a three layer MLP for CLIP fine-tuning</a:t>
            </a:r>
            <a:endParaRPr/>
          </a:p>
          <a:p>
            <a:pPr indent="-317500" lvl="1" marL="914400" rtl="0" algn="l">
              <a:spcBef>
                <a:spcPts val="0"/>
              </a:spcBef>
              <a:spcAft>
                <a:spcPts val="0"/>
              </a:spcAft>
              <a:buSzPts val="1400"/>
              <a:buChar char="○"/>
            </a:pPr>
            <a:r>
              <a:rPr lang="zh-CN"/>
              <a:t>a Cosine Emsemble Loss is employed</a:t>
            </a:r>
            <a:endParaRPr/>
          </a:p>
          <a:p>
            <a:pPr indent="-317500" lvl="1" marL="914400" rtl="0" algn="l">
              <a:spcBef>
                <a:spcPts val="0"/>
              </a:spcBef>
              <a:spcAft>
                <a:spcPts val="0"/>
              </a:spcAft>
              <a:buSzPts val="1400"/>
              <a:buChar char="○"/>
            </a:pPr>
            <a:r>
              <a:rPr lang="zh-CN"/>
              <a:t>k=10, top 10 is selected   </a:t>
            </a:r>
            <a:endParaRPr/>
          </a:p>
        </p:txBody>
      </p:sp>
      <p:pic>
        <p:nvPicPr>
          <p:cNvPr id="253" name="Google Shape;253;p35"/>
          <p:cNvPicPr preferRelativeResize="0"/>
          <p:nvPr/>
        </p:nvPicPr>
        <p:blipFill>
          <a:blip r:embed="rId3">
            <a:alphaModFix/>
          </a:blip>
          <a:stretch>
            <a:fillRect/>
          </a:stretch>
        </p:blipFill>
        <p:spPr>
          <a:xfrm>
            <a:off x="5111000" y="2345675"/>
            <a:ext cx="3672025" cy="2466850"/>
          </a:xfrm>
          <a:prstGeom prst="rect">
            <a:avLst/>
          </a:prstGeom>
          <a:noFill/>
          <a:ln>
            <a:noFill/>
          </a:ln>
        </p:spPr>
      </p:pic>
      <p:pic>
        <p:nvPicPr>
          <p:cNvPr id="254" name="Google Shape;254;p35"/>
          <p:cNvPicPr preferRelativeResize="0"/>
          <p:nvPr/>
        </p:nvPicPr>
        <p:blipFill>
          <a:blip r:embed="rId4">
            <a:alphaModFix/>
          </a:blip>
          <a:stretch>
            <a:fillRect/>
          </a:stretch>
        </p:blipFill>
        <p:spPr>
          <a:xfrm>
            <a:off x="4799637" y="1519101"/>
            <a:ext cx="4181625" cy="64527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Result</a:t>
            </a:r>
            <a:endParaRPr/>
          </a:p>
        </p:txBody>
      </p:sp>
      <p:graphicFrame>
        <p:nvGraphicFramePr>
          <p:cNvPr id="260" name="Google Shape;260;p36"/>
          <p:cNvGraphicFramePr/>
          <p:nvPr/>
        </p:nvGraphicFramePr>
        <p:xfrm>
          <a:off x="472725" y="1017725"/>
          <a:ext cx="3000000" cy="3000000"/>
        </p:xfrm>
        <a:graphic>
          <a:graphicData uri="http://schemas.openxmlformats.org/drawingml/2006/table">
            <a:tbl>
              <a:tblPr>
                <a:noFill/>
                <a:tableStyleId>{A2A2B406-B3A0-463F-944D-07D615EE5F6A}</a:tableStyleId>
              </a:tblPr>
              <a:tblGrid>
                <a:gridCol w="2002900"/>
                <a:gridCol w="2002900"/>
                <a:gridCol w="2002900"/>
                <a:gridCol w="2002900"/>
              </a:tblGrid>
              <a:tr h="46625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zh-CN"/>
                        <a:t>FID↓</a:t>
                      </a:r>
                      <a:endParaRPr/>
                    </a:p>
                  </a:txBody>
                  <a:tcPr marT="91425" marB="91425" marR="91425" marL="91425"/>
                </a:tc>
                <a:tc>
                  <a:txBody>
                    <a:bodyPr/>
                    <a:lstStyle/>
                    <a:p>
                      <a:pPr indent="0" lvl="0" marL="0" rtl="0" algn="ctr">
                        <a:spcBef>
                          <a:spcPts val="0"/>
                        </a:spcBef>
                        <a:spcAft>
                          <a:spcPts val="0"/>
                        </a:spcAft>
                        <a:buNone/>
                      </a:pPr>
                      <a:r>
                        <a:rPr lang="zh-CN"/>
                        <a:t>R-precision↑ (top3)</a:t>
                      </a:r>
                      <a:endParaRPr/>
                    </a:p>
                  </a:txBody>
                  <a:tcPr marT="91425" marB="91425" marR="91425" marL="91425"/>
                </a:tc>
                <a:tc>
                  <a:txBody>
                    <a:bodyPr/>
                    <a:lstStyle/>
                    <a:p>
                      <a:pPr indent="0" lvl="0" marL="0" rtl="0" algn="ctr">
                        <a:spcBef>
                          <a:spcPts val="0"/>
                        </a:spcBef>
                        <a:spcAft>
                          <a:spcPts val="0"/>
                        </a:spcAft>
                        <a:buNone/>
                      </a:pPr>
                      <a:r>
                        <a:rPr lang="zh-CN"/>
                        <a:t>Diversity→</a:t>
                      </a:r>
                      <a:endParaRPr/>
                    </a:p>
                  </a:txBody>
                  <a:tcPr marT="91425" marB="91425" marR="91425" marL="91425"/>
                </a:tc>
              </a:tr>
              <a:tr h="395500">
                <a:tc>
                  <a:txBody>
                    <a:bodyPr/>
                    <a:lstStyle/>
                    <a:p>
                      <a:pPr indent="0" lvl="0" marL="0" rtl="0" algn="ctr">
                        <a:spcBef>
                          <a:spcPts val="0"/>
                        </a:spcBef>
                        <a:spcAft>
                          <a:spcPts val="0"/>
                        </a:spcAft>
                        <a:buNone/>
                      </a:pPr>
                      <a:r>
                        <a:rPr lang="zh-CN">
                          <a:solidFill>
                            <a:srgbClr val="999999"/>
                          </a:solidFill>
                        </a:rPr>
                        <a:t>Ground Truth</a:t>
                      </a:r>
                      <a:endParaRPr>
                        <a:solidFill>
                          <a:srgbClr val="999999"/>
                        </a:solidFill>
                      </a:endParaRPr>
                    </a:p>
                  </a:txBody>
                  <a:tcPr marT="91425" marB="91425" marR="91425" marL="91425"/>
                </a:tc>
                <a:tc>
                  <a:txBody>
                    <a:bodyPr/>
                    <a:lstStyle/>
                    <a:p>
                      <a:pPr indent="0" lvl="0" marL="0" rtl="0" algn="ctr">
                        <a:spcBef>
                          <a:spcPts val="0"/>
                        </a:spcBef>
                        <a:spcAft>
                          <a:spcPts val="0"/>
                        </a:spcAft>
                        <a:buNone/>
                      </a:pPr>
                      <a:r>
                        <a:rPr lang="zh-CN">
                          <a:solidFill>
                            <a:srgbClr val="999999"/>
                          </a:solidFill>
                        </a:rPr>
                        <a:t>0.002</a:t>
                      </a:r>
                      <a:endParaRPr>
                        <a:solidFill>
                          <a:srgbClr val="999999"/>
                        </a:solidFill>
                      </a:endParaRPr>
                    </a:p>
                  </a:txBody>
                  <a:tcPr marT="91425" marB="91425" marR="91425" marL="91425"/>
                </a:tc>
                <a:tc>
                  <a:txBody>
                    <a:bodyPr/>
                    <a:lstStyle/>
                    <a:p>
                      <a:pPr indent="0" lvl="0" marL="0" rtl="0" algn="ctr">
                        <a:spcBef>
                          <a:spcPts val="0"/>
                        </a:spcBef>
                        <a:spcAft>
                          <a:spcPts val="0"/>
                        </a:spcAft>
                        <a:buNone/>
                      </a:pPr>
                      <a:r>
                        <a:rPr lang="zh-CN">
                          <a:solidFill>
                            <a:srgbClr val="999999"/>
                          </a:solidFill>
                        </a:rPr>
                        <a:t>0.797</a:t>
                      </a:r>
                      <a:endParaRPr>
                        <a:solidFill>
                          <a:srgbClr val="999999"/>
                        </a:solidFill>
                      </a:endParaRPr>
                    </a:p>
                  </a:txBody>
                  <a:tcPr marT="91425" marB="91425" marR="91425" marL="91425"/>
                </a:tc>
                <a:tc>
                  <a:txBody>
                    <a:bodyPr/>
                    <a:lstStyle/>
                    <a:p>
                      <a:pPr indent="0" lvl="0" marL="0" rtl="0" algn="ctr">
                        <a:spcBef>
                          <a:spcPts val="0"/>
                        </a:spcBef>
                        <a:spcAft>
                          <a:spcPts val="0"/>
                        </a:spcAft>
                        <a:buNone/>
                      </a:pPr>
                      <a:r>
                        <a:rPr lang="zh-CN">
                          <a:solidFill>
                            <a:srgbClr val="999999"/>
                          </a:solidFill>
                        </a:rPr>
                        <a:t>9.503</a:t>
                      </a:r>
                      <a:endParaRPr>
                        <a:solidFill>
                          <a:srgbClr val="999999"/>
                        </a:solidFill>
                      </a:endParaRPr>
                    </a:p>
                  </a:txBody>
                  <a:tcPr marT="91425" marB="91425" marR="91425" marL="91425"/>
                </a:tc>
              </a:tr>
              <a:tr h="395500">
                <a:tc>
                  <a:txBody>
                    <a:bodyPr/>
                    <a:lstStyle/>
                    <a:p>
                      <a:pPr indent="0" lvl="0" marL="0" rtl="0" algn="ctr">
                        <a:spcBef>
                          <a:spcPts val="0"/>
                        </a:spcBef>
                        <a:spcAft>
                          <a:spcPts val="0"/>
                        </a:spcAft>
                        <a:buNone/>
                      </a:pPr>
                      <a:r>
                        <a:rPr lang="zh-CN"/>
                        <a:t>T2M (2022)</a:t>
                      </a:r>
                      <a:endParaRPr/>
                    </a:p>
                  </a:txBody>
                  <a:tcPr marT="91425" marB="91425" marR="91425" marL="91425"/>
                </a:tc>
                <a:tc>
                  <a:txBody>
                    <a:bodyPr/>
                    <a:lstStyle/>
                    <a:p>
                      <a:pPr indent="0" lvl="0" marL="0" rtl="0" algn="ctr">
                        <a:spcBef>
                          <a:spcPts val="0"/>
                        </a:spcBef>
                        <a:spcAft>
                          <a:spcPts val="0"/>
                        </a:spcAft>
                        <a:buNone/>
                      </a:pPr>
                      <a:r>
                        <a:rPr lang="zh-CN"/>
                        <a:t>1.067</a:t>
                      </a:r>
                      <a:endParaRPr/>
                    </a:p>
                  </a:txBody>
                  <a:tcPr marT="91425" marB="91425" marR="91425" marL="91425"/>
                </a:tc>
                <a:tc>
                  <a:txBody>
                    <a:bodyPr/>
                    <a:lstStyle/>
                    <a:p>
                      <a:pPr indent="0" lvl="0" marL="0" rtl="0" algn="ctr">
                        <a:spcBef>
                          <a:spcPts val="0"/>
                        </a:spcBef>
                        <a:spcAft>
                          <a:spcPts val="0"/>
                        </a:spcAft>
                        <a:buNone/>
                      </a:pPr>
                      <a:r>
                        <a:rPr lang="zh-CN"/>
                        <a:t>0.740</a:t>
                      </a:r>
                      <a:endParaRPr/>
                    </a:p>
                  </a:txBody>
                  <a:tcPr marT="91425" marB="91425" marR="91425" marL="91425"/>
                </a:tc>
                <a:tc>
                  <a:txBody>
                    <a:bodyPr/>
                    <a:lstStyle/>
                    <a:p>
                      <a:pPr indent="0" lvl="0" marL="0" rtl="0" algn="ctr">
                        <a:spcBef>
                          <a:spcPts val="0"/>
                        </a:spcBef>
                        <a:spcAft>
                          <a:spcPts val="0"/>
                        </a:spcAft>
                        <a:buNone/>
                      </a:pPr>
                      <a:r>
                        <a:rPr lang="zh-CN"/>
                        <a:t>9.188</a:t>
                      </a:r>
                      <a:endParaRPr/>
                    </a:p>
                  </a:txBody>
                  <a:tcPr marT="91425" marB="91425" marR="91425" marL="91425"/>
                </a:tc>
              </a:tr>
              <a:tr h="395500">
                <a:tc>
                  <a:txBody>
                    <a:bodyPr/>
                    <a:lstStyle/>
                    <a:p>
                      <a:pPr indent="0" lvl="0" marL="0" rtl="0" algn="ctr">
                        <a:spcBef>
                          <a:spcPts val="0"/>
                        </a:spcBef>
                        <a:spcAft>
                          <a:spcPts val="0"/>
                        </a:spcAft>
                        <a:buNone/>
                      </a:pPr>
                      <a:r>
                        <a:rPr lang="zh-CN"/>
                        <a:t>MDM (2022)</a:t>
                      </a:r>
                      <a:endParaRPr/>
                    </a:p>
                  </a:txBody>
                  <a:tcPr marT="91425" marB="91425" marR="91425" marL="91425"/>
                </a:tc>
                <a:tc>
                  <a:txBody>
                    <a:bodyPr/>
                    <a:lstStyle/>
                    <a:p>
                      <a:pPr indent="0" lvl="0" marL="0" rtl="0" algn="ctr">
                        <a:spcBef>
                          <a:spcPts val="0"/>
                        </a:spcBef>
                        <a:spcAft>
                          <a:spcPts val="0"/>
                        </a:spcAft>
                        <a:buNone/>
                      </a:pPr>
                      <a:r>
                        <a:rPr lang="zh-CN"/>
                        <a:t>0.556</a:t>
                      </a:r>
                      <a:endParaRPr/>
                    </a:p>
                  </a:txBody>
                  <a:tcPr marT="91425" marB="91425" marR="91425" marL="91425"/>
                </a:tc>
                <a:tc>
                  <a:txBody>
                    <a:bodyPr/>
                    <a:lstStyle/>
                    <a:p>
                      <a:pPr indent="0" lvl="0" marL="0" rtl="0" algn="ctr">
                        <a:spcBef>
                          <a:spcPts val="0"/>
                        </a:spcBef>
                        <a:spcAft>
                          <a:spcPts val="0"/>
                        </a:spcAft>
                        <a:buNone/>
                      </a:pPr>
                      <a:r>
                        <a:rPr lang="zh-CN"/>
                        <a:t>0.608</a:t>
                      </a:r>
                      <a:endParaRPr/>
                    </a:p>
                  </a:txBody>
                  <a:tcPr marT="91425" marB="91425" marR="91425" marL="91425"/>
                </a:tc>
                <a:tc>
                  <a:txBody>
                    <a:bodyPr/>
                    <a:lstStyle/>
                    <a:p>
                      <a:pPr indent="0" lvl="0" marL="0" rtl="0" algn="ctr">
                        <a:spcBef>
                          <a:spcPts val="0"/>
                        </a:spcBef>
                        <a:spcAft>
                          <a:spcPts val="0"/>
                        </a:spcAft>
                        <a:buNone/>
                      </a:pPr>
                      <a:r>
                        <a:rPr b="1" lang="zh-CN"/>
                        <a:t>9.446</a:t>
                      </a:r>
                      <a:endParaRPr b="1"/>
                    </a:p>
                  </a:txBody>
                  <a:tcPr marT="91425" marB="91425" marR="91425" marL="91425"/>
                </a:tc>
              </a:tr>
              <a:tr h="395500">
                <a:tc>
                  <a:txBody>
                    <a:bodyPr/>
                    <a:lstStyle/>
                    <a:p>
                      <a:pPr indent="0" lvl="0" marL="0" rtl="0" algn="ctr">
                        <a:spcBef>
                          <a:spcPts val="0"/>
                        </a:spcBef>
                        <a:spcAft>
                          <a:spcPts val="0"/>
                        </a:spcAft>
                        <a:buNone/>
                      </a:pPr>
                      <a:r>
                        <a:rPr lang="zh-CN"/>
                        <a:t>GMD (2023)</a:t>
                      </a:r>
                      <a:endParaRPr/>
                    </a:p>
                  </a:txBody>
                  <a:tcPr marT="91425" marB="91425" marR="91425" marL="91425"/>
                </a:tc>
                <a:tc>
                  <a:txBody>
                    <a:bodyPr/>
                    <a:lstStyle/>
                    <a:p>
                      <a:pPr indent="0" lvl="0" marL="0" rtl="0" algn="ctr">
                        <a:spcBef>
                          <a:spcPts val="0"/>
                        </a:spcBef>
                        <a:spcAft>
                          <a:spcPts val="0"/>
                        </a:spcAft>
                        <a:buNone/>
                      </a:pPr>
                      <a:r>
                        <a:rPr b="1" lang="zh-CN"/>
                        <a:t>0.212</a:t>
                      </a:r>
                      <a:endParaRPr b="1"/>
                    </a:p>
                  </a:txBody>
                  <a:tcPr marT="91425" marB="91425" marR="91425" marL="91425"/>
                </a:tc>
                <a:tc>
                  <a:txBody>
                    <a:bodyPr/>
                    <a:lstStyle/>
                    <a:p>
                      <a:pPr indent="0" lvl="0" marL="0" rtl="0" algn="ctr">
                        <a:spcBef>
                          <a:spcPts val="0"/>
                        </a:spcBef>
                        <a:spcAft>
                          <a:spcPts val="0"/>
                        </a:spcAft>
                        <a:buNone/>
                      </a:pPr>
                      <a:r>
                        <a:rPr lang="zh-CN"/>
                        <a:t>0.670</a:t>
                      </a:r>
                      <a:endParaRPr/>
                    </a:p>
                  </a:txBody>
                  <a:tcPr marT="91425" marB="91425" marR="91425" marL="91425"/>
                </a:tc>
                <a:tc>
                  <a:txBody>
                    <a:bodyPr/>
                    <a:lstStyle/>
                    <a:p>
                      <a:pPr indent="0" lvl="0" marL="0" rtl="0" algn="ctr">
                        <a:spcBef>
                          <a:spcPts val="0"/>
                        </a:spcBef>
                        <a:spcAft>
                          <a:spcPts val="0"/>
                        </a:spcAft>
                        <a:buNone/>
                      </a:pPr>
                      <a:r>
                        <a:rPr lang="zh-CN"/>
                        <a:t>9.440</a:t>
                      </a:r>
                      <a:endParaRPr/>
                    </a:p>
                  </a:txBody>
                  <a:tcPr marT="91425" marB="91425" marR="91425" marL="91425"/>
                </a:tc>
              </a:tr>
              <a:tr h="395500">
                <a:tc>
                  <a:txBody>
                    <a:bodyPr/>
                    <a:lstStyle/>
                    <a:p>
                      <a:pPr indent="0" lvl="0" marL="0" rtl="0" algn="ctr">
                        <a:spcBef>
                          <a:spcPts val="0"/>
                        </a:spcBef>
                        <a:spcAft>
                          <a:spcPts val="0"/>
                        </a:spcAft>
                        <a:buNone/>
                      </a:pPr>
                      <a:r>
                        <a:rPr lang="zh-CN"/>
                        <a:t>Ours</a:t>
                      </a:r>
                      <a:endParaRPr/>
                    </a:p>
                  </a:txBody>
                  <a:tcPr marT="91425" marB="91425" marR="91425" marL="91425"/>
                </a:tc>
                <a:tc>
                  <a:txBody>
                    <a:bodyPr/>
                    <a:lstStyle/>
                    <a:p>
                      <a:pPr indent="0" lvl="0" marL="0" rtl="0" algn="ctr">
                        <a:spcBef>
                          <a:spcPts val="0"/>
                        </a:spcBef>
                        <a:spcAft>
                          <a:spcPts val="0"/>
                        </a:spcAft>
                        <a:buNone/>
                      </a:pPr>
                      <a:r>
                        <a:rPr lang="zh-CN"/>
                        <a:t>0.320</a:t>
                      </a:r>
                      <a:endParaRPr/>
                    </a:p>
                  </a:txBody>
                  <a:tcPr marT="91425" marB="91425" marR="91425" marL="91425"/>
                </a:tc>
                <a:tc>
                  <a:txBody>
                    <a:bodyPr/>
                    <a:lstStyle/>
                    <a:p>
                      <a:pPr indent="0" lvl="0" marL="0" rtl="0" algn="ctr">
                        <a:spcBef>
                          <a:spcPts val="0"/>
                        </a:spcBef>
                        <a:spcAft>
                          <a:spcPts val="0"/>
                        </a:spcAft>
                        <a:buNone/>
                      </a:pPr>
                      <a:r>
                        <a:rPr b="1" lang="zh-CN"/>
                        <a:t>0.749</a:t>
                      </a:r>
                      <a:endParaRPr b="1"/>
                    </a:p>
                  </a:txBody>
                  <a:tcPr marT="91425" marB="91425" marR="91425" marL="91425"/>
                </a:tc>
                <a:tc>
                  <a:txBody>
                    <a:bodyPr/>
                    <a:lstStyle/>
                    <a:p>
                      <a:pPr indent="0" lvl="0" marL="0" rtl="0" algn="ctr">
                        <a:spcBef>
                          <a:spcPts val="0"/>
                        </a:spcBef>
                        <a:spcAft>
                          <a:spcPts val="0"/>
                        </a:spcAft>
                        <a:buNone/>
                      </a:pPr>
                      <a:r>
                        <a:rPr lang="zh-CN"/>
                        <a:t>9.423</a:t>
                      </a:r>
                      <a:endParaRPr/>
                    </a:p>
                  </a:txBody>
                  <a:tcPr marT="91425" marB="91425" marR="91425" marL="91425"/>
                </a:tc>
              </a:tr>
            </a:tbl>
          </a:graphicData>
        </a:graphic>
      </p:graphicFrame>
      <p:sp>
        <p:nvSpPr>
          <p:cNvPr id="261" name="Google Shape;261;p36"/>
          <p:cNvSpPr txBox="1"/>
          <p:nvPr/>
        </p:nvSpPr>
        <p:spPr>
          <a:xfrm>
            <a:off x="359800" y="3591250"/>
            <a:ext cx="8124600" cy="1084200"/>
          </a:xfrm>
          <a:prstGeom prst="rect">
            <a:avLst/>
          </a:prstGeom>
          <a:noFill/>
          <a:ln>
            <a:noFill/>
          </a:ln>
        </p:spPr>
        <p:txBody>
          <a:bodyPr anchorCtr="0" anchor="t" bIns="91425" lIns="91425" spcFirstLastPara="1" rIns="91425" wrap="square" tIns="91425">
            <a:noAutofit/>
          </a:bodyPr>
          <a:lstStyle/>
          <a:p>
            <a:pPr indent="-317500" lvl="1" marL="457200" rtl="0" algn="l">
              <a:lnSpc>
                <a:spcPct val="115000"/>
              </a:lnSpc>
              <a:spcBef>
                <a:spcPts val="0"/>
              </a:spcBef>
              <a:spcAft>
                <a:spcPts val="0"/>
              </a:spcAft>
              <a:buClr>
                <a:schemeClr val="dk2"/>
              </a:buClr>
              <a:buSzPts val="1400"/>
              <a:buChar char="○"/>
            </a:pPr>
            <a:r>
              <a:rPr b="1" lang="zh-CN">
                <a:solidFill>
                  <a:schemeClr val="dk2"/>
                </a:solidFill>
              </a:rPr>
              <a:t>Frechet Inception Distance (FID)</a:t>
            </a:r>
            <a:r>
              <a:rPr lang="zh-CN">
                <a:solidFill>
                  <a:schemeClr val="dk2"/>
                </a:solidFill>
              </a:rPr>
              <a:t>, measures the distance between the distributions of ground truth and generated motion using a pretrained t2m encoder.</a:t>
            </a:r>
            <a:endParaRPr>
              <a:solidFill>
                <a:schemeClr val="dk2"/>
              </a:solidFill>
            </a:endParaRPr>
          </a:p>
          <a:p>
            <a:pPr indent="-317500" lvl="1" marL="457200" rtl="0" algn="l">
              <a:lnSpc>
                <a:spcPct val="115000"/>
              </a:lnSpc>
              <a:spcBef>
                <a:spcPts val="0"/>
              </a:spcBef>
              <a:spcAft>
                <a:spcPts val="0"/>
              </a:spcAft>
              <a:buClr>
                <a:schemeClr val="dk2"/>
              </a:buClr>
              <a:buSzPts val="1400"/>
              <a:buChar char="○"/>
            </a:pPr>
            <a:r>
              <a:rPr b="1" lang="zh-CN">
                <a:solidFill>
                  <a:schemeClr val="dk2"/>
                </a:solidFill>
              </a:rPr>
              <a:t>R-Precision (top 3)</a:t>
            </a:r>
            <a:r>
              <a:rPr lang="zh-CN">
                <a:solidFill>
                  <a:schemeClr val="dk2"/>
                </a:solidFill>
              </a:rPr>
              <a:t>, evaluates the relevance of the generated motion and its text prompt.</a:t>
            </a:r>
            <a:endParaRPr>
              <a:solidFill>
                <a:schemeClr val="dk2"/>
              </a:solidFill>
            </a:endParaRPr>
          </a:p>
          <a:p>
            <a:pPr indent="-317500" lvl="1" marL="457200" rtl="0" algn="l">
              <a:lnSpc>
                <a:spcPct val="115000"/>
              </a:lnSpc>
              <a:spcBef>
                <a:spcPts val="0"/>
              </a:spcBef>
              <a:spcAft>
                <a:spcPts val="0"/>
              </a:spcAft>
              <a:buClr>
                <a:schemeClr val="dk2"/>
              </a:buClr>
              <a:buSzPts val="1400"/>
              <a:buChar char="○"/>
            </a:pPr>
            <a:r>
              <a:rPr b="1" lang="zh-CN">
                <a:solidFill>
                  <a:schemeClr val="dk2"/>
                </a:solidFill>
              </a:rPr>
              <a:t>Diversity</a:t>
            </a:r>
            <a:r>
              <a:rPr lang="zh-CN">
                <a:solidFill>
                  <a:schemeClr val="dk2"/>
                </a:solidFill>
              </a:rPr>
              <a:t>, measures the variability within the generated motion.</a:t>
            </a:r>
            <a:endParaRPr>
              <a:solidFill>
                <a:schemeClr val="dk2"/>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Evaluation: Inspect into text and motion alignment</a:t>
            </a:r>
            <a:endParaRPr/>
          </a:p>
        </p:txBody>
      </p:sp>
      <p:sp>
        <p:nvSpPr>
          <p:cNvPr id="267" name="Google Shape;267;p37"/>
          <p:cNvSpPr txBox="1"/>
          <p:nvPr>
            <p:ph idx="1" type="body"/>
          </p:nvPr>
        </p:nvSpPr>
        <p:spPr>
          <a:xfrm>
            <a:off x="311700" y="1152475"/>
            <a:ext cx="8520600" cy="84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randomly sample 500 data from GT, count the number part of KP items with top 10 scores in both motion and semantic</a:t>
            </a:r>
            <a:endParaRPr/>
          </a:p>
        </p:txBody>
      </p:sp>
      <p:pic>
        <p:nvPicPr>
          <p:cNvPr id="268" name="Google Shape;268;p37"/>
          <p:cNvPicPr preferRelativeResize="0"/>
          <p:nvPr/>
        </p:nvPicPr>
        <p:blipFill>
          <a:blip r:embed="rId3">
            <a:alphaModFix/>
          </a:blip>
          <a:stretch>
            <a:fillRect/>
          </a:stretch>
        </p:blipFill>
        <p:spPr>
          <a:xfrm>
            <a:off x="2493500" y="2230325"/>
            <a:ext cx="4670500" cy="2749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Ablation study</a:t>
            </a:r>
            <a:endParaRPr/>
          </a:p>
        </p:txBody>
      </p:sp>
      <p:sp>
        <p:nvSpPr>
          <p:cNvPr id="274" name="Google Shape;274;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SzPts val="1800"/>
              <a:buChar char="●"/>
            </a:pPr>
            <a:r>
              <a:rPr lang="zh-CN"/>
              <a:t>top 10 / top 50 / top 100</a:t>
            </a:r>
            <a:endParaRPr/>
          </a:p>
          <a:p>
            <a:pPr indent="-342900" lvl="0" marL="457200" rtl="0" algn="l">
              <a:lnSpc>
                <a:spcPct val="100000"/>
              </a:lnSpc>
              <a:spcBef>
                <a:spcPts val="0"/>
              </a:spcBef>
              <a:spcAft>
                <a:spcPts val="0"/>
              </a:spcAft>
              <a:buSzPts val="1800"/>
              <a:buChar char="●"/>
            </a:pPr>
            <a:r>
              <a:rPr lang="zh-CN"/>
              <a:t>full set of KP / subset of KP</a:t>
            </a:r>
            <a:endParaRPr/>
          </a:p>
          <a:p>
            <a:pPr indent="-342900" lvl="0" marL="457200" rtl="0" algn="l">
              <a:lnSpc>
                <a:spcPct val="100000"/>
              </a:lnSpc>
              <a:spcBef>
                <a:spcPts val="0"/>
              </a:spcBef>
              <a:spcAft>
                <a:spcPts val="0"/>
              </a:spcAft>
              <a:buSzPts val="1800"/>
              <a:buChar char="●"/>
            </a:pPr>
            <a:r>
              <a:rPr lang="zh-CN"/>
              <a:t>research into ensemble strategy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Visualization</a:t>
            </a:r>
            <a:endParaRPr/>
          </a:p>
        </p:txBody>
      </p:sp>
      <p:sp>
        <p:nvSpPr>
          <p:cNvPr id="280" name="Google Shape;280;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First, we use guided-motion-diffusion(GMD) generate the .npy file containing the information of all the key points of body</a:t>
            </a:r>
            <a:endParaRPr/>
          </a:p>
          <a:p>
            <a:pPr indent="-342900" lvl="0" marL="457200" rtl="0" algn="l">
              <a:spcBef>
                <a:spcPts val="0"/>
              </a:spcBef>
              <a:spcAft>
                <a:spcPts val="0"/>
              </a:spcAft>
              <a:buSzPts val="1800"/>
              <a:buChar char="●"/>
            </a:pPr>
            <a:r>
              <a:rPr lang="zh-CN"/>
              <a:t>Then, we render SMPL mesh using the SMPLify and generate the .obj files for each frame</a:t>
            </a:r>
            <a:endParaRPr/>
          </a:p>
          <a:p>
            <a:pPr indent="-342900" lvl="0" marL="457200" rtl="0" algn="l">
              <a:spcBef>
                <a:spcPts val="0"/>
              </a:spcBef>
              <a:spcAft>
                <a:spcPts val="0"/>
              </a:spcAft>
              <a:buSzPts val="1800"/>
              <a:buChar char="●"/>
            </a:pPr>
            <a:r>
              <a:rPr lang="zh-CN"/>
              <a:t>Finally, we use blender to help visualize the body movement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Visualization: demo</a:t>
            </a:r>
            <a:endParaRPr/>
          </a:p>
        </p:txBody>
      </p:sp>
      <p:pic>
        <p:nvPicPr>
          <p:cNvPr id="286" name="Google Shape;286;p40" title="sample00_rep00.mp4">
            <a:hlinkClick r:id="rId3"/>
          </p:cNvPr>
          <p:cNvPicPr preferRelativeResize="0"/>
          <p:nvPr/>
        </p:nvPicPr>
        <p:blipFill>
          <a:blip r:embed="rId4">
            <a:alphaModFix/>
          </a:blip>
          <a:stretch>
            <a:fillRect/>
          </a:stretch>
        </p:blipFill>
        <p:spPr>
          <a:xfrm>
            <a:off x="533050" y="1110950"/>
            <a:ext cx="3851600" cy="3429000"/>
          </a:xfrm>
          <a:prstGeom prst="rect">
            <a:avLst/>
          </a:prstGeom>
          <a:noFill/>
          <a:ln>
            <a:noFill/>
          </a:ln>
        </p:spPr>
      </p:pic>
      <p:pic>
        <p:nvPicPr>
          <p:cNvPr id="287" name="Google Shape;287;p40"/>
          <p:cNvPicPr preferRelativeResize="0"/>
          <p:nvPr/>
        </p:nvPicPr>
        <p:blipFill>
          <a:blip r:embed="rId5">
            <a:alphaModFix/>
          </a:blip>
          <a:stretch>
            <a:fillRect/>
          </a:stretch>
        </p:blipFill>
        <p:spPr>
          <a:xfrm>
            <a:off x="4961186" y="1110950"/>
            <a:ext cx="3240739" cy="31492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Visualization: demo</a:t>
            </a:r>
            <a:endParaRPr/>
          </a:p>
        </p:txBody>
      </p:sp>
      <p:pic>
        <p:nvPicPr>
          <p:cNvPr id="293" name="Google Shape;293;p41"/>
          <p:cNvPicPr preferRelativeResize="0"/>
          <p:nvPr/>
        </p:nvPicPr>
        <p:blipFill>
          <a:blip r:embed="rId3">
            <a:alphaModFix/>
          </a:blip>
          <a:stretch>
            <a:fillRect/>
          </a:stretch>
        </p:blipFill>
        <p:spPr>
          <a:xfrm>
            <a:off x="4982624" y="1354063"/>
            <a:ext cx="3426249" cy="2991374"/>
          </a:xfrm>
          <a:prstGeom prst="rect">
            <a:avLst/>
          </a:prstGeom>
          <a:noFill/>
          <a:ln>
            <a:noFill/>
          </a:ln>
        </p:spPr>
      </p:pic>
      <p:pic>
        <p:nvPicPr>
          <p:cNvPr id="294" name="Google Shape;294;p41" title="bends.mp4">
            <a:hlinkClick r:id="rId4"/>
          </p:cNvPr>
          <p:cNvPicPr preferRelativeResize="0"/>
          <p:nvPr/>
        </p:nvPicPr>
        <p:blipFill>
          <a:blip r:embed="rId5">
            <a:alphaModFix/>
          </a:blip>
          <a:stretch>
            <a:fillRect/>
          </a:stretch>
        </p:blipFill>
        <p:spPr>
          <a:xfrm>
            <a:off x="1051900" y="1421000"/>
            <a:ext cx="2857500" cy="2857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Visualization: demo</a:t>
            </a:r>
            <a:endParaRPr/>
          </a:p>
        </p:txBody>
      </p:sp>
      <p:pic>
        <p:nvPicPr>
          <p:cNvPr id="300" name="Google Shape;300;p42" title="walking.mp4">
            <a:hlinkClick r:id="rId3"/>
          </p:cNvPr>
          <p:cNvPicPr preferRelativeResize="0"/>
          <p:nvPr/>
        </p:nvPicPr>
        <p:blipFill>
          <a:blip r:embed="rId4">
            <a:alphaModFix/>
          </a:blip>
          <a:stretch>
            <a:fillRect/>
          </a:stretch>
        </p:blipFill>
        <p:spPr>
          <a:xfrm>
            <a:off x="659650" y="1261650"/>
            <a:ext cx="3644275" cy="3337475"/>
          </a:xfrm>
          <a:prstGeom prst="rect">
            <a:avLst/>
          </a:prstGeom>
          <a:noFill/>
          <a:ln>
            <a:noFill/>
          </a:ln>
        </p:spPr>
      </p:pic>
      <p:pic>
        <p:nvPicPr>
          <p:cNvPr id="301" name="Google Shape;301;p42"/>
          <p:cNvPicPr preferRelativeResize="0"/>
          <p:nvPr/>
        </p:nvPicPr>
        <p:blipFill>
          <a:blip r:embed="rId5">
            <a:alphaModFix/>
          </a:blip>
          <a:stretch>
            <a:fillRect/>
          </a:stretch>
        </p:blipFill>
        <p:spPr>
          <a:xfrm>
            <a:off x="4572000" y="1161819"/>
            <a:ext cx="3644276" cy="29376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Examples: comparison</a:t>
            </a:r>
            <a:endParaRPr/>
          </a:p>
        </p:txBody>
      </p:sp>
      <p:pic>
        <p:nvPicPr>
          <p:cNvPr id="307" name="Google Shape;307;p43" title="sample00_rep00.mp4">
            <a:hlinkClick r:id="rId3"/>
          </p:cNvPr>
          <p:cNvPicPr preferRelativeResize="0"/>
          <p:nvPr/>
        </p:nvPicPr>
        <p:blipFill>
          <a:blip r:embed="rId4">
            <a:alphaModFix/>
          </a:blip>
          <a:stretch>
            <a:fillRect/>
          </a:stretch>
        </p:blipFill>
        <p:spPr>
          <a:xfrm>
            <a:off x="752075" y="1170125"/>
            <a:ext cx="3401926" cy="3429000"/>
          </a:xfrm>
          <a:prstGeom prst="rect">
            <a:avLst/>
          </a:prstGeom>
          <a:noFill/>
          <a:ln>
            <a:noFill/>
          </a:ln>
        </p:spPr>
      </p:pic>
      <p:pic>
        <p:nvPicPr>
          <p:cNvPr id="308" name="Google Shape;308;p43" title="sample00.mp4">
            <a:hlinkClick r:id="rId5"/>
          </p:cNvPr>
          <p:cNvPicPr preferRelativeResize="0"/>
          <p:nvPr/>
        </p:nvPicPr>
        <p:blipFill>
          <a:blip r:embed="rId6">
            <a:alphaModFix/>
          </a:blip>
          <a:stretch>
            <a:fillRect/>
          </a:stretch>
        </p:blipFill>
        <p:spPr>
          <a:xfrm>
            <a:off x="5215000" y="1123275"/>
            <a:ext cx="3213676" cy="3579650"/>
          </a:xfrm>
          <a:prstGeom prst="rect">
            <a:avLst/>
          </a:prstGeom>
          <a:noFill/>
          <a:ln>
            <a:noFill/>
          </a:ln>
        </p:spPr>
      </p:pic>
      <p:sp>
        <p:nvSpPr>
          <p:cNvPr id="309" name="Google Shape;309;p43"/>
          <p:cNvSpPr txBox="1"/>
          <p:nvPr/>
        </p:nvSpPr>
        <p:spPr>
          <a:xfrm>
            <a:off x="2170400" y="4264625"/>
            <a:ext cx="911100" cy="4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2"/>
                </a:solidFill>
              </a:rPr>
              <a:t>Ours</a:t>
            </a:r>
            <a:endParaRPr sz="1800">
              <a:solidFill>
                <a:schemeClr val="dk2"/>
              </a:solidFill>
            </a:endParaRPr>
          </a:p>
        </p:txBody>
      </p:sp>
      <p:sp>
        <p:nvSpPr>
          <p:cNvPr id="310" name="Google Shape;310;p43"/>
          <p:cNvSpPr txBox="1"/>
          <p:nvPr/>
        </p:nvSpPr>
        <p:spPr>
          <a:xfrm>
            <a:off x="6252900" y="4264625"/>
            <a:ext cx="911100" cy="4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2"/>
                </a:solidFill>
              </a:rPr>
              <a:t>GMD</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0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Conclusion</a:t>
            </a:r>
            <a:endParaRPr/>
          </a:p>
        </p:txBody>
      </p:sp>
      <p:sp>
        <p:nvSpPr>
          <p:cNvPr id="316" name="Google Shape;316;p44"/>
          <p:cNvSpPr txBox="1"/>
          <p:nvPr>
            <p:ph idx="1" type="body"/>
          </p:nvPr>
        </p:nvSpPr>
        <p:spPr>
          <a:xfrm>
            <a:off x="311700" y="1080350"/>
            <a:ext cx="8520600" cy="3291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zh-CN">
                <a:solidFill>
                  <a:schemeClr val="dk1"/>
                </a:solidFill>
              </a:rPr>
              <a:t>We introduce kinematic prior into traditional motion diffusion by establishing </a:t>
            </a:r>
            <a:r>
              <a:rPr lang="zh-CN">
                <a:solidFill>
                  <a:schemeClr val="dk1"/>
                </a:solidFill>
              </a:rPr>
              <a:t>multiple </a:t>
            </a:r>
            <a:r>
              <a:rPr lang="zh-CN">
                <a:solidFill>
                  <a:schemeClr val="dk1"/>
                </a:solidFill>
              </a:rPr>
              <a:t>classifier based on Kinematic Phrases. By utilize its high level of abstraction and characterization on human motions, we manage to establish motion generation on ground of human knowledge and understanding</a:t>
            </a:r>
            <a:r>
              <a:rPr lang="zh-CN">
                <a:solidFill>
                  <a:schemeClr val="dk1"/>
                </a:solidFill>
              </a:rPr>
              <a:t>.</a:t>
            </a:r>
            <a:endParaRPr>
              <a:solidFill>
                <a:schemeClr val="dk1"/>
              </a:solidFill>
            </a:endParaRPr>
          </a:p>
          <a:p>
            <a:pPr indent="-342900" lvl="0" marL="457200" rtl="0" algn="l">
              <a:spcBef>
                <a:spcPts val="0"/>
              </a:spcBef>
              <a:spcAft>
                <a:spcPts val="0"/>
              </a:spcAft>
              <a:buClr>
                <a:schemeClr val="dk1"/>
              </a:buClr>
              <a:buSzPts val="1800"/>
              <a:buAutoNum type="arabicPeriod"/>
            </a:pPr>
            <a:r>
              <a:rPr lang="zh-CN">
                <a:solidFill>
                  <a:schemeClr val="dk1"/>
                </a:solidFill>
              </a:rPr>
              <a:t>We propose semantic adaptive dictionary methods which dynamically adjust our classifier compound to better accommodate diverse motion generation scenarios. This new way of semantic infusion is the first to be used in human motion generation field, bypassing the domain gap between the motion and language.</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CN"/>
              <a:t>Thank you for listening!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